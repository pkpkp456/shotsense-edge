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4"/>
  </p:notesMasterIdLst>
  <p:handoutMasterIdLst>
    <p:handoutMasterId r:id="rId15"/>
  </p:handoutMasterIdLst>
  <p:sldIdLst>
    <p:sldId id="312" r:id="rId5"/>
    <p:sldId id="314" r:id="rId6"/>
    <p:sldId id="313" r:id="rId7"/>
    <p:sldId id="316" r:id="rId8"/>
    <p:sldId id="317" r:id="rId9"/>
    <p:sldId id="318" r:id="rId10"/>
    <p:sldId id="319" r:id="rId11"/>
    <p:sldId id="320" r:id="rId12"/>
    <p:sldId id="297" r:id="rId13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67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A26DE-D8AD-4FCF-7818-4A0365CC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399609-A8BC-6558-075F-1E583A061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31DBD2-A5D4-0E69-2AFB-54D54C520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125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6A8DF-3E6D-E6EB-EF78-73E297F7E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80525-DBC6-9EA4-0CE6-E861B1801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37C9FC-131F-03F4-0F1A-06AC585C3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758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41BF4-2D23-485F-BE9C-45E0EE9B1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6196DE-CC38-129B-F69F-CF58CFAAC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C8FD40-CAE7-89D9-362A-4B76151EF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39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3EB51-2BB2-2EF2-C872-842B65D4D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A98999-B61C-2814-D89F-57C2D5F1F8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73079-D22F-8E26-5E1E-58F0C686D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10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DFD94-0323-C534-9F26-48FAE3397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3DE47-BD7E-1AB1-AF36-8C89ECAFA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05297D-2AB4-C3A5-E969-1DB56C138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017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A419B-4DB0-DE3A-B1E5-42F4F59F3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A22332-56CF-1AC3-0AE4-F9CD695CC8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01356B-9541-7B33-62E5-8B3E21452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1955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34A29-DB19-B0D3-FC6E-87B9BE3CB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62F2AD-AB58-A4BE-2095-CB87DE346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7A110A-2474-1A66-0B98-40AE6A9AF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13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Project</a:t>
            </a:r>
            <a:br>
              <a:rPr lang="en-US" dirty="0"/>
            </a:br>
            <a:r>
              <a:rPr lang="en-US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0B44F-A78A-AE1B-93DF-415CD53D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37B7F-0806-A3EE-DD4A-244AE65E5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Week-1</a:t>
            </a:r>
          </a:p>
        </p:txBody>
      </p:sp>
    </p:spTree>
    <p:extLst>
      <p:ext uri="{BB962C8B-B14F-4D97-AF65-F5344CB8AC3E}">
        <p14:creationId xmlns:p14="http://schemas.microsoft.com/office/powerpoint/2010/main" val="214748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47D32-2785-8D4C-8471-AB52BE3A6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7C67-1B6E-F916-D5DB-1FA8049E7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5" y="88490"/>
            <a:ext cx="11916697" cy="1179868"/>
          </a:xfrm>
        </p:spPr>
        <p:txBody>
          <a:bodyPr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 Lightweight Deep Convolutional Neural Network Implemented on FPGA and Android Devices for Detection of Breast Cancer Using Ultrasound Images</a:t>
            </a:r>
            <a:br>
              <a:rPr lang="en-US" sz="1400" dirty="0">
                <a:solidFill>
                  <a:schemeClr val="tx1"/>
                </a:solidFill>
              </a:rPr>
            </a:br>
            <a:br>
              <a:rPr lang="en-US" sz="1400" dirty="0">
                <a:solidFill>
                  <a:schemeClr val="tx1"/>
                </a:solidFill>
              </a:rPr>
            </a:br>
            <a:br>
              <a:rPr lang="en-US" sz="1400" dirty="0">
                <a:solidFill>
                  <a:schemeClr val="tx1"/>
                </a:solidFill>
              </a:rPr>
            </a:b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14077-6B5E-3743-60DA-119E0416A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8" y="928688"/>
            <a:ext cx="11916697" cy="5929311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What’s in the Paper: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Proposed a l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ightweight CNN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to detect breast cancer using ultrasound images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Implemented on both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FPGA hardware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and 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Android devices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for real-time use.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FPGA performs image preprocessing + acceleration, reducing latency &amp; power.</a:t>
            </a:r>
          </a:p>
          <a:p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Why It’s Good:</a:t>
            </a:r>
          </a:p>
          <a:p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Efficient &amp; portable - usable in rural or low-resource healthcare settings.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Low power + real-time processing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using edge devices.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 High 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accuracy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and minimal hardware resource usage.</a:t>
            </a:r>
          </a:p>
          <a:p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What We Can Improve:</a:t>
            </a:r>
          </a:p>
          <a:p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Extend to detect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other recurring diseases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(e.g. lung/kidney issues).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Use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advanced CNN compression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(quantization, pruning) for further optimization.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Improve preprocessing or add cloud support for feedback &amp; monitoring.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F4B02-8BA6-E02A-B591-EE6F4318AA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167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495DD-914C-6828-6B35-67BED66E7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B133A-8B76-E972-7440-422A3608C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1180"/>
            <a:ext cx="11916697" cy="1179868"/>
          </a:xfrm>
        </p:spPr>
        <p:txBody>
          <a:bodyPr>
            <a:noAutofit/>
          </a:bodyPr>
          <a:lstStyle/>
          <a:p>
            <a:pPr algn="ctr"/>
            <a:r>
              <a:rPr lang="en-US" sz="1400" dirty="0">
                <a:solidFill>
                  <a:schemeClr val="accent1">
                    <a:lumMod val="10000"/>
                  </a:schemeClr>
                </a:solidFill>
              </a:rPr>
              <a:t>Portable and Cost-Effective Handheld  Ultrasound System Utilizing FPGA-Based </a:t>
            </a:r>
            <a:br>
              <a:rPr lang="en-US" sz="1400" dirty="0">
                <a:solidFill>
                  <a:schemeClr val="accent1">
                    <a:lumMod val="10000"/>
                  </a:schemeClr>
                </a:solidFill>
              </a:rPr>
            </a:br>
            <a:br>
              <a:rPr lang="en-US" sz="1400" dirty="0">
                <a:solidFill>
                  <a:schemeClr val="accent1">
                    <a:lumMod val="1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10000"/>
                  </a:schemeClr>
                </a:solidFill>
              </a:rPr>
              <a:t>Synthetic Aperture Imaging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6EB19-84B8-97D7-BB61-44680B7FE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8" y="928689"/>
            <a:ext cx="11916697" cy="5767080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What’s in the Paper: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This paper presents a </a:t>
            </a:r>
            <a:r>
              <a:rPr lang="en-US" sz="1800" b="1" dirty="0">
                <a:solidFill>
                  <a:schemeClr val="tx1"/>
                </a:solidFill>
              </a:rPr>
              <a:t>handheld ultrasound system</a:t>
            </a:r>
            <a:r>
              <a:rPr lang="en-US" sz="1800" dirty="0">
                <a:solidFill>
                  <a:schemeClr val="tx1"/>
                </a:solidFill>
              </a:rPr>
              <a:t> using </a:t>
            </a:r>
            <a:r>
              <a:rPr lang="en-US" sz="1800" b="1" dirty="0">
                <a:solidFill>
                  <a:schemeClr val="tx1"/>
                </a:solidFill>
              </a:rPr>
              <a:t>FPGA-based synthetic aperture imaging (SAI)</a:t>
            </a:r>
            <a:r>
              <a:rPr lang="en-US" sz="1800" dirty="0">
                <a:solidFill>
                  <a:schemeClr val="tx1"/>
                </a:solidFill>
              </a:rPr>
              <a:t> for diagnosing </a:t>
            </a:r>
            <a:r>
              <a:rPr lang="en-US" sz="1800" b="1" dirty="0">
                <a:solidFill>
                  <a:schemeClr val="tx1"/>
                </a:solidFill>
              </a:rPr>
              <a:t>cardiovascular disease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system is designed to be </a:t>
            </a:r>
            <a:r>
              <a:rPr lang="en-US" sz="1800" b="1" dirty="0">
                <a:solidFill>
                  <a:schemeClr val="tx1"/>
                </a:solidFill>
              </a:rPr>
              <a:t>portable and low-cost</a:t>
            </a:r>
            <a:r>
              <a:rPr lang="en-US" sz="1800" dirty="0">
                <a:solidFill>
                  <a:schemeClr val="tx1"/>
                </a:solidFill>
              </a:rPr>
              <a:t>, focusing on </a:t>
            </a:r>
            <a:r>
              <a:rPr lang="en-US" sz="1800" b="1" dirty="0">
                <a:solidFill>
                  <a:schemeClr val="tx1"/>
                </a:solidFill>
              </a:rPr>
              <a:t>segmentation of heart sounds</a:t>
            </a:r>
            <a:r>
              <a:rPr lang="en-US" sz="1800" dirty="0">
                <a:solidFill>
                  <a:schemeClr val="tx1"/>
                </a:solidFill>
              </a:rPr>
              <a:t> from </a:t>
            </a:r>
            <a:r>
              <a:rPr lang="en-US" sz="1800" b="1" dirty="0">
                <a:solidFill>
                  <a:schemeClr val="tx1"/>
                </a:solidFill>
              </a:rPr>
              <a:t>phonocardiogram (PCG)</a:t>
            </a:r>
            <a:r>
              <a:rPr lang="en-US" sz="1800" dirty="0">
                <a:solidFill>
                  <a:schemeClr val="tx1"/>
                </a:solidFill>
              </a:rPr>
              <a:t> signals acquired through a stethoscope.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FPGA enables fast real-time signal processing with reduced hardware requirements.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Why It Is Good: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Provides a </a:t>
            </a:r>
            <a:r>
              <a:rPr lang="en-US" sz="1800" b="1" dirty="0">
                <a:solidFill>
                  <a:schemeClr val="tx1"/>
                </a:solidFill>
              </a:rPr>
              <a:t>low-cost, point-of-care diagnostic solution</a:t>
            </a:r>
            <a:r>
              <a:rPr lang="en-US" sz="1800" dirty="0">
                <a:solidFill>
                  <a:schemeClr val="tx1"/>
                </a:solidFill>
              </a:rPr>
              <a:t> for cardiovascular issues.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FPGA ensures </a:t>
            </a:r>
            <a:r>
              <a:rPr lang="en-US" sz="1800" b="1" dirty="0">
                <a:solidFill>
                  <a:schemeClr val="tx1"/>
                </a:solidFill>
              </a:rPr>
              <a:t>efficient signal processing</a:t>
            </a:r>
            <a:r>
              <a:rPr lang="en-US" sz="1800" dirty="0">
                <a:solidFill>
                  <a:schemeClr val="tx1"/>
                </a:solidFill>
              </a:rPr>
              <a:t> with high speed and accuracy.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Ideal for </a:t>
            </a:r>
            <a:r>
              <a:rPr lang="en-US" sz="1800" b="1" dirty="0">
                <a:solidFill>
                  <a:schemeClr val="tx1"/>
                </a:solidFill>
              </a:rPr>
              <a:t>mobile health applications</a:t>
            </a:r>
            <a:r>
              <a:rPr lang="en-US" sz="1800" dirty="0">
                <a:solidFill>
                  <a:schemeClr val="tx1"/>
                </a:solidFill>
              </a:rPr>
              <a:t>, especially in underserved regions.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What Advancements We Can Do: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Improve </a:t>
            </a:r>
            <a:r>
              <a:rPr lang="en-US" sz="1800" b="1" dirty="0">
                <a:solidFill>
                  <a:schemeClr val="tx1"/>
                </a:solidFill>
              </a:rPr>
              <a:t>resource optimization</a:t>
            </a:r>
            <a:r>
              <a:rPr lang="en-US" sz="1800" dirty="0">
                <a:solidFill>
                  <a:schemeClr val="tx1"/>
                </a:solidFill>
              </a:rPr>
              <a:t> on FPGA by using lightweight deep learning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Explore </a:t>
            </a:r>
            <a:r>
              <a:rPr lang="en-US" sz="1800" b="1" dirty="0">
                <a:solidFill>
                  <a:schemeClr val="tx1"/>
                </a:solidFill>
              </a:rPr>
              <a:t>adaptive filtering</a:t>
            </a:r>
            <a:r>
              <a:rPr lang="en-US" sz="1800" dirty="0">
                <a:solidFill>
                  <a:schemeClr val="tx1"/>
                </a:solidFill>
              </a:rPr>
              <a:t> and </a:t>
            </a:r>
            <a:r>
              <a:rPr lang="en-US" sz="1800" b="1" dirty="0">
                <a:solidFill>
                  <a:schemeClr val="tx1"/>
                </a:solidFill>
              </a:rPr>
              <a:t>AI-based anomaly detection</a:t>
            </a:r>
            <a:r>
              <a:rPr lang="en-US" sz="1800" dirty="0">
                <a:solidFill>
                  <a:schemeClr val="tx1"/>
                </a:solidFill>
              </a:rPr>
              <a:t> to enhance diagnosis accuracy.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Extend the platform for </a:t>
            </a:r>
            <a:r>
              <a:rPr lang="en-US" sz="1800" b="1" dirty="0">
                <a:solidFill>
                  <a:schemeClr val="tx1"/>
                </a:solidFill>
              </a:rPr>
              <a:t>multi-organ imaging or disease detection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9CE9E-19AF-6CD0-B4B7-CE84B6ADEE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558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BF0C3-A2C1-2494-F833-4AB7EA05B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118BA-44A1-86DD-2968-3CD26A627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51" y="-589934"/>
            <a:ext cx="11916697" cy="1179868"/>
          </a:xfrm>
        </p:spPr>
        <p:txBody>
          <a:bodyPr>
            <a:noAutofit/>
          </a:bodyPr>
          <a:lstStyle/>
          <a:p>
            <a:pPr algn="ctr"/>
            <a:r>
              <a:rPr lang="en-US" sz="1400" dirty="0">
                <a:solidFill>
                  <a:schemeClr val="accent1">
                    <a:lumMod val="10000"/>
                  </a:schemeClr>
                </a:solidFill>
              </a:rPr>
              <a:t>An FPGA Prototype for Parkinson’s Disease Detection Using Machine Learning on Voice Signal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A129B-DD47-2B31-24E9-3CC50C1AA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8" y="928689"/>
            <a:ext cx="11916697" cy="5767080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What’s in the Paper: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Developed a Parkinson’s disease detection system using voice signal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Extracted voice features such as jitter, shimmer, and pitch frequency.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Focused on low-latency, energy-efficient, and portable diagnosis solutions.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Why It Is Good: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Non-invasive and early detection of Parkinson’s through speech signals.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Fully portable and FPGA-based low-power solution.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System is portable, enabling home-based or rural health diagnostics.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What Advancements We Can Do: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Incorporate deep learning models (like CNN, LSTM) for more robust voice pattern recognition.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Extend detection to other neurodegenerative or speech disorders.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Use model optimization techniques (quantization, pruning) for better resource efficiency on FPGA.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67EF3-F109-3D8A-6152-E00D7FD570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297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30BAB-90E1-131E-BD75-1F14DF123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05E52-F34F-9FF0-1DE0-1810981FB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2637"/>
            <a:ext cx="11916697" cy="1179868"/>
          </a:xfrm>
        </p:spPr>
        <p:txBody>
          <a:bodyPr>
            <a:noAutofit/>
          </a:bodyPr>
          <a:lstStyle/>
          <a:p>
            <a:pPr algn="ctr"/>
            <a:r>
              <a:rPr lang="en-US" sz="1400" dirty="0">
                <a:solidFill>
                  <a:schemeClr val="accent1">
                    <a:lumMod val="10000"/>
                  </a:schemeClr>
                </a:solidFill>
              </a:rPr>
              <a:t>FPGA SoC Implementation of Adaptive Deep Neural Network-Based Multimodal Edge Intelligence for Internet of Medical Things (IoMT)    [INSPIRATIONAL PURPOSE ]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EE38C-8A95-AA65-8DF9-3A4CD0C34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8" y="928689"/>
            <a:ext cx="11916697" cy="5767080"/>
          </a:xfrm>
        </p:spPr>
        <p:txBody>
          <a:bodyPr>
            <a:normAutofit fontScale="92500" lnSpcReduction="10000"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What’s in the Paper: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Developed a Multimodal Edge Intelligence System for healthcare using adaptive deep neural networks (DNNs).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Implemented the complete model on an FPGA-based System on Chip (SoC) for real-time, low-power edge computing.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Integrated multiple data modalities: audio, image, and text for robust decision-making.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Designed a dynamic neural network selection mechanism that adjusts model depth/complexity based on input and available hardware resources.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Targeted for </a:t>
            </a:r>
            <a:r>
              <a:rPr lang="en-US" altLang="en-US" sz="1800" b="1" dirty="0">
                <a:solidFill>
                  <a:schemeClr val="tx1"/>
                </a:solidFill>
              </a:rPr>
              <a:t>Internet of Medical Things (IoMT) </a:t>
            </a:r>
            <a:r>
              <a:rPr lang="en-US" altLang="en-US" sz="1800" dirty="0">
                <a:solidFill>
                  <a:schemeClr val="tx1"/>
                </a:solidFill>
              </a:rPr>
              <a:t>to enable remote, real-time, intelligent diagnosis.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  <a:p>
            <a:r>
              <a:rPr lang="en-US" sz="1800" b="1" dirty="0">
                <a:solidFill>
                  <a:schemeClr val="tx1"/>
                </a:solidFill>
              </a:rPr>
              <a:t>Why It Is Good:</a:t>
            </a:r>
          </a:p>
          <a:p>
            <a:endParaRPr lang="en-US" sz="1800" b="1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Combines </a:t>
            </a:r>
            <a:r>
              <a:rPr lang="en-US" altLang="en-US" sz="1800" b="1" dirty="0">
                <a:solidFill>
                  <a:schemeClr val="tx1"/>
                </a:solidFill>
              </a:rPr>
              <a:t>AI + Edge Computing + IoMT + FPGA</a:t>
            </a:r>
            <a:r>
              <a:rPr lang="en-US" altLang="en-US" sz="1800" dirty="0">
                <a:solidFill>
                  <a:schemeClr val="tx1"/>
                </a:solidFill>
              </a:rPr>
              <a:t>, covering all hot research domains in healthcare tech.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The system is </a:t>
            </a:r>
            <a:r>
              <a:rPr lang="en-US" altLang="en-US" sz="1800" b="1" dirty="0">
                <a:solidFill>
                  <a:schemeClr val="tx1"/>
                </a:solidFill>
              </a:rPr>
              <a:t>adaptive</a:t>
            </a:r>
            <a:r>
              <a:rPr lang="en-US" altLang="en-US" sz="1800" dirty="0">
                <a:solidFill>
                  <a:schemeClr val="tx1"/>
                </a:solidFill>
              </a:rPr>
              <a:t>, meaning it changes based on constraints like battery life, urgency, or network conditions.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Shows complete implementation from </a:t>
            </a:r>
            <a:r>
              <a:rPr lang="en-US" altLang="en-US" sz="1800" b="1" dirty="0">
                <a:solidFill>
                  <a:schemeClr val="tx1"/>
                </a:solidFill>
              </a:rPr>
              <a:t>data fusion to classification</a:t>
            </a:r>
            <a:r>
              <a:rPr lang="en-US" altLang="en-US" sz="1800" dirty="0">
                <a:solidFill>
                  <a:schemeClr val="tx1"/>
                </a:solidFill>
              </a:rPr>
              <a:t>—not just a simulation or partial proof.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Real-world application in </a:t>
            </a:r>
            <a:r>
              <a:rPr lang="en-US" altLang="en-US" sz="1800" b="1" dirty="0">
                <a:solidFill>
                  <a:schemeClr val="tx1"/>
                </a:solidFill>
              </a:rPr>
              <a:t>wearables</a:t>
            </a:r>
            <a:r>
              <a:rPr lang="en-US" altLang="en-US" sz="1800" dirty="0">
                <a:solidFill>
                  <a:schemeClr val="tx1"/>
                </a:solidFill>
              </a:rPr>
              <a:t>, </a:t>
            </a:r>
            <a:r>
              <a:rPr lang="en-US" altLang="en-US" sz="1800" b="1" dirty="0">
                <a:solidFill>
                  <a:schemeClr val="tx1"/>
                </a:solidFill>
              </a:rPr>
              <a:t>smart hospitals</a:t>
            </a:r>
            <a:r>
              <a:rPr lang="en-US" altLang="en-US" sz="1800" dirty="0">
                <a:solidFill>
                  <a:schemeClr val="tx1"/>
                </a:solidFill>
              </a:rPr>
              <a:t>, or </a:t>
            </a:r>
            <a:r>
              <a:rPr lang="en-US" altLang="en-US" sz="1800" b="1" dirty="0">
                <a:solidFill>
                  <a:schemeClr val="tx1"/>
                </a:solidFill>
              </a:rPr>
              <a:t>rural health kits</a:t>
            </a:r>
            <a:r>
              <a:rPr lang="en-US" altLang="en-US" sz="1800" dirty="0">
                <a:solidFill>
                  <a:schemeClr val="tx1"/>
                </a:solidFill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Efficiently handles </a:t>
            </a:r>
            <a:r>
              <a:rPr lang="en-US" altLang="en-US" sz="1800" b="1" dirty="0">
                <a:solidFill>
                  <a:schemeClr val="tx1"/>
                </a:solidFill>
              </a:rPr>
              <a:t>multimodal data</a:t>
            </a:r>
            <a:r>
              <a:rPr lang="en-US" altLang="en-US" sz="1800" dirty="0">
                <a:solidFill>
                  <a:schemeClr val="tx1"/>
                </a:solidFill>
              </a:rPr>
              <a:t>, which is rarely done in a single embedded system.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9018D-E80D-5833-503C-FE2F127911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274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1A747-5DD4-8621-40CC-B09EBA464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35517-0171-7528-5754-1EA33B4FB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2637"/>
            <a:ext cx="11916697" cy="1179868"/>
          </a:xfrm>
        </p:spPr>
        <p:txBody>
          <a:bodyPr>
            <a:noAutofit/>
          </a:bodyPr>
          <a:lstStyle/>
          <a:p>
            <a:pPr algn="ctr"/>
            <a:r>
              <a:rPr lang="en-US" sz="1400" dirty="0">
                <a:solidFill>
                  <a:schemeClr val="accent1">
                    <a:lumMod val="10000"/>
                  </a:schemeClr>
                </a:solidFill>
              </a:rPr>
              <a:t>FPGA SoC Implementation of Adaptive Deep Neural Network-Based Multimodal Edge Intelligence for Internet of Medical Things (IoMT)    [INSPIRATIONAL PURPOSE ]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6677D-1A50-7EB6-ADDB-82DF32F63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8" y="928689"/>
            <a:ext cx="11916697" cy="576708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What Advancements We Can Do: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Extend the platform with </a:t>
            </a:r>
            <a:r>
              <a:rPr lang="en-US" altLang="en-US" sz="1800" b="1" dirty="0">
                <a:solidFill>
                  <a:schemeClr val="tx1"/>
                </a:solidFill>
              </a:rPr>
              <a:t>custom hardware accelerators (e.g., for LSTM or transformer blocks)</a:t>
            </a:r>
            <a:r>
              <a:rPr lang="en-US" altLang="en-US" sz="1800" dirty="0">
                <a:solidFill>
                  <a:schemeClr val="tx1"/>
                </a:solidFill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Further optimize with </a:t>
            </a:r>
            <a:r>
              <a:rPr lang="en-US" altLang="en-US" sz="1800" b="1" dirty="0" err="1">
                <a:solidFill>
                  <a:schemeClr val="tx1"/>
                </a:solidFill>
              </a:rPr>
              <a:t>TinyML</a:t>
            </a:r>
            <a:r>
              <a:rPr lang="en-US" altLang="en-US" sz="1800" dirty="0">
                <a:solidFill>
                  <a:schemeClr val="tx1"/>
                </a:solidFill>
              </a:rPr>
              <a:t>, making it usable on even more constrained devices.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Incorporate </a:t>
            </a:r>
            <a:r>
              <a:rPr lang="en-US" altLang="en-US" sz="1800" b="1" dirty="0">
                <a:solidFill>
                  <a:schemeClr val="tx1"/>
                </a:solidFill>
              </a:rPr>
              <a:t>security modules</a:t>
            </a:r>
            <a:r>
              <a:rPr lang="en-US" altLang="en-US" sz="1800" dirty="0">
                <a:solidFill>
                  <a:schemeClr val="tx1"/>
                </a:solidFill>
              </a:rPr>
              <a:t> (encryption, secure boot) to make it deployable in commercial medical IoT networks.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Train the system on </a:t>
            </a:r>
            <a:r>
              <a:rPr lang="en-US" altLang="en-US" sz="1800" b="1" dirty="0">
                <a:solidFill>
                  <a:schemeClr val="tx1"/>
                </a:solidFill>
              </a:rPr>
              <a:t>regional datasets (e.g., Indian medical data)</a:t>
            </a:r>
            <a:r>
              <a:rPr lang="en-US" altLang="en-US" sz="1800" dirty="0">
                <a:solidFill>
                  <a:schemeClr val="tx1"/>
                </a:solidFill>
              </a:rPr>
              <a:t> to make it more locally applicable.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BA246-28C4-F0CD-A96D-1DA1BF217A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246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BF241-8B47-37ED-DD30-4F1B8D74F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1F70A-1CF7-540B-44BB-B0D353FCC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451" y="1166424"/>
            <a:ext cx="3800115" cy="566348"/>
          </a:xfrm>
        </p:spPr>
        <p:txBody>
          <a:bodyPr/>
          <a:lstStyle/>
          <a:p>
            <a:r>
              <a:rPr lang="en-US" sz="2000" b="0" dirty="0">
                <a:solidFill>
                  <a:schemeClr val="accent1">
                    <a:lumMod val="25000"/>
                  </a:schemeClr>
                </a:solidFill>
                <a:latin typeface="Lucida Handwriting" panose="03010101010101010101" pitchFamily="66" charset="0"/>
              </a:rPr>
              <a:t>Summary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57EB03E-4FAF-A087-1134-6656F3D6B72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9081" y="2129453"/>
            <a:ext cx="10528080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After studying these papers, I have realized that there are significant developments in the medical industry, especially with the integration of </a:t>
            </a:r>
            <a:r>
              <a:rPr lang="en-US" sz="1600" b="1" dirty="0">
                <a:solidFill>
                  <a:schemeClr val="tx1"/>
                </a:solidFill>
              </a:rPr>
              <a:t>FPGA-based systems</a:t>
            </a:r>
            <a:r>
              <a:rPr lang="en-US" sz="1600" dirty="0">
                <a:solidFill>
                  <a:schemeClr val="tx1"/>
                </a:solidFill>
              </a:rPr>
              <a:t>. Almost every project incorporates </a:t>
            </a:r>
            <a:r>
              <a:rPr lang="en-US" sz="1600" b="1" dirty="0">
                <a:solidFill>
                  <a:schemeClr val="tx1"/>
                </a:solidFill>
              </a:rPr>
              <a:t>machine learning (ML)</a:t>
            </a:r>
            <a:r>
              <a:rPr lang="en-US" sz="1600" dirty="0">
                <a:solidFill>
                  <a:schemeClr val="tx1"/>
                </a:solidFill>
              </a:rPr>
              <a:t> or </a:t>
            </a:r>
            <a:r>
              <a:rPr lang="en-US" sz="1600" b="1" dirty="0">
                <a:solidFill>
                  <a:schemeClr val="tx1"/>
                </a:solidFill>
              </a:rPr>
              <a:t>deep learning (DL)</a:t>
            </a:r>
            <a:r>
              <a:rPr lang="en-US" sz="1600" dirty="0">
                <a:solidFill>
                  <a:schemeClr val="tx1"/>
                </a:solidFill>
              </a:rPr>
              <a:t> techniques to utilize hardware more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 each paper we discussed, there's potential to incorporate improved </a:t>
            </a:r>
            <a:r>
              <a:rPr lang="en-US" sz="1600" b="1" dirty="0">
                <a:solidFill>
                  <a:schemeClr val="tx1"/>
                </a:solidFill>
              </a:rPr>
              <a:t>Deep Neural Networks (DNNs)</a:t>
            </a:r>
            <a:r>
              <a:rPr lang="en-US" sz="1600" dirty="0">
                <a:solidFill>
                  <a:schemeClr val="tx1"/>
                </a:solidFill>
              </a:rPr>
              <a:t> or </a:t>
            </a:r>
            <a:r>
              <a:rPr lang="en-US" sz="1600" b="1" dirty="0">
                <a:solidFill>
                  <a:schemeClr val="tx1"/>
                </a:solidFill>
              </a:rPr>
              <a:t>Recurrent Neural Networks (RNNs)</a:t>
            </a:r>
            <a:r>
              <a:rPr lang="en-US" sz="1600" dirty="0">
                <a:solidFill>
                  <a:schemeClr val="tx1"/>
                </a:solidFill>
              </a:rPr>
              <a:t> to further enhance the accuracy of the results. From a hardware perspective, </a:t>
            </a:r>
            <a:r>
              <a:rPr lang="en-US" sz="1600" b="1" dirty="0">
                <a:solidFill>
                  <a:schemeClr val="tx1"/>
                </a:solidFill>
              </a:rPr>
              <a:t>hardware acceleration</a:t>
            </a:r>
            <a:r>
              <a:rPr lang="en-US" sz="1600" dirty="0">
                <a:solidFill>
                  <a:schemeClr val="tx1"/>
                </a:solidFill>
              </a:rPr>
              <a:t> for CNNs or other deep learning algorithms can also improve performance and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While most of these projects are already well-developed and optimized for their specific purposes, what we can do is focus on </a:t>
            </a:r>
            <a:r>
              <a:rPr lang="en-US" sz="1600" b="1" dirty="0">
                <a:solidFill>
                  <a:schemeClr val="tx1"/>
                </a:solidFill>
              </a:rPr>
              <a:t>real-time medical problems or diseases</a:t>
            </a:r>
            <a:r>
              <a:rPr lang="en-US" sz="1600" dirty="0">
                <a:solidFill>
                  <a:schemeClr val="tx1"/>
                </a:solidFill>
              </a:rPr>
              <a:t> within the same domain. With the experience and insights gained from these studies, we can design a solution by following a similar approach—combining ML/DL models with FPGA for medical applications that still lack efficient solutions.</a:t>
            </a:r>
          </a:p>
        </p:txBody>
      </p:sp>
    </p:spTree>
    <p:extLst>
      <p:ext uri="{BB962C8B-B14F-4D97-AF65-F5344CB8AC3E}">
        <p14:creationId xmlns:p14="http://schemas.microsoft.com/office/powerpoint/2010/main" val="2099787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823F298-F4E0-D2AC-92B8-BF4991C7A07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-1327356" y="4761498"/>
            <a:ext cx="155153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{500BBAB9-9D16-425C-8934-BD30DF460540}tf78438558_win32</Template>
  <TotalTime>149</TotalTime>
  <Words>933</Words>
  <Application>Microsoft Office PowerPoint</Application>
  <PresentationFormat>Widescreen</PresentationFormat>
  <Paragraphs>87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Calibri</vt:lpstr>
      <vt:lpstr>Lucida Handwriting</vt:lpstr>
      <vt:lpstr>Sabon Next LT</vt:lpstr>
      <vt:lpstr>Wingdings</vt:lpstr>
      <vt:lpstr>Custom</vt:lpstr>
      <vt:lpstr>Project presentation</vt:lpstr>
      <vt:lpstr>Week-1</vt:lpstr>
      <vt:lpstr>A Lightweight Deep Convolutional Neural Network Implemented on FPGA and Android Devices for Detection of Breast Cancer Using Ultrasound Images   </vt:lpstr>
      <vt:lpstr>Portable and Cost-Effective Handheld  Ultrasound System Utilizing FPGA-Based   Synthetic Aperture Imaging</vt:lpstr>
      <vt:lpstr>An FPGA Prototype for Parkinson’s Disease Detection Using Machine Learning on Voice Signal</vt:lpstr>
      <vt:lpstr>FPGA SoC Implementation of Adaptive Deep Neural Network-Based Multimodal Edge Intelligence for Internet of Medical Things (IoMT)    [INSPIRATIONAL PURPOSE ]</vt:lpstr>
      <vt:lpstr>FPGA SoC Implementation of Adaptive Deep Neural Network-Based Multimodal Edge Intelligence for Internet of Medical Things (IoMT)    [INSPIRATIONAL PURPOSE ]</vt:lpstr>
      <vt:lpstr>Summary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Praveen Podalakur</dc:creator>
  <cp:keywords>Education</cp:keywords>
  <cp:lastModifiedBy>Praveen Podalakur</cp:lastModifiedBy>
  <cp:revision>6</cp:revision>
  <dcterms:created xsi:type="dcterms:W3CDTF">2025-07-26T08:54:47Z</dcterms:created>
  <dcterms:modified xsi:type="dcterms:W3CDTF">2025-07-29T05:26:32Z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