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2C2B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0323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2C2B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0323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2C2B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0323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2C2B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0323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2C2B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0323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2C2B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0323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2C2B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0323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2C2B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0323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2C2B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0323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2C2B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0323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8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1.xm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164199"/>
            <a:ext cx="7556421" cy="28351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FF8F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Real-time Gunshot Detection System Integration To Camera Surveillance Systems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5339477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A proactive approach to enhancing public safety through advanced technology.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67163"/>
            <a:ext cx="908518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FFF8F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The Urgent Need for Gunshot Detection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93790" y="3087767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Gun violence poses a grave threat to public safety, with escalating statistics highlighting the critical need for effective detection and alarming systems.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4068723"/>
            <a:ext cx="4196358" cy="2093714"/>
          </a:xfrm>
          <a:prstGeom prst="roundRect">
            <a:avLst>
              <a:gd name="adj" fmla="val 1625"/>
            </a:avLst>
          </a:prstGeom>
          <a:solidFill>
            <a:srgbClr val="403234"/>
          </a:solidFill>
          <a:ln w="30480">
            <a:solidFill>
              <a:srgbClr val="786A6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3790" y="4068723"/>
            <a:ext cx="121920" cy="2093714"/>
          </a:xfrm>
          <a:prstGeom prst="roundRect">
            <a:avLst>
              <a:gd name="adj" fmla="val 27907"/>
            </a:avLst>
          </a:prstGeom>
          <a:solidFill>
            <a:srgbClr val="E2C2B3"/>
          </a:solidFill>
          <a:ln/>
        </p:spPr>
      </p:sp>
      <p:sp>
        <p:nvSpPr>
          <p:cNvPr id="6" name="Text 4"/>
          <p:cNvSpPr/>
          <p:nvPr/>
        </p:nvSpPr>
        <p:spPr>
          <a:xfrm>
            <a:off x="1173004" y="432601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Escalating Violence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73004" y="4816435"/>
            <a:ext cx="355985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1,315 school shootings in the U.S. since 1970.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216962" y="4068723"/>
            <a:ext cx="4196358" cy="2093714"/>
          </a:xfrm>
          <a:prstGeom prst="roundRect">
            <a:avLst>
              <a:gd name="adj" fmla="val 1625"/>
            </a:avLst>
          </a:prstGeom>
          <a:solidFill>
            <a:srgbClr val="403234"/>
          </a:solidFill>
          <a:ln w="30480">
            <a:solidFill>
              <a:srgbClr val="786A6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216962" y="4068723"/>
            <a:ext cx="121920" cy="2093714"/>
          </a:xfrm>
          <a:prstGeom prst="roundRect">
            <a:avLst>
              <a:gd name="adj" fmla="val 27907"/>
            </a:avLst>
          </a:prstGeom>
          <a:solidFill>
            <a:srgbClr val="E2C2B3"/>
          </a:solidFill>
          <a:ln/>
        </p:spPr>
      </p:sp>
      <p:sp>
        <p:nvSpPr>
          <p:cNvPr id="10" name="Text 8"/>
          <p:cNvSpPr/>
          <p:nvPr/>
        </p:nvSpPr>
        <p:spPr>
          <a:xfrm>
            <a:off x="5596176" y="432601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School Incidents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596176" y="4816435"/>
            <a:ext cx="355985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97 recorded shooting incidents at K-12 schools in 2018.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9640133" y="4068723"/>
            <a:ext cx="4196358" cy="2093714"/>
          </a:xfrm>
          <a:prstGeom prst="roundRect">
            <a:avLst>
              <a:gd name="adj" fmla="val 1625"/>
            </a:avLst>
          </a:prstGeom>
          <a:solidFill>
            <a:srgbClr val="403234"/>
          </a:solidFill>
          <a:ln w="30480">
            <a:solidFill>
              <a:srgbClr val="786A6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640133" y="4068723"/>
            <a:ext cx="121920" cy="2093714"/>
          </a:xfrm>
          <a:prstGeom prst="roundRect">
            <a:avLst>
              <a:gd name="adj" fmla="val 27907"/>
            </a:avLst>
          </a:prstGeom>
          <a:solidFill>
            <a:srgbClr val="E2C2B3"/>
          </a:solidFill>
          <a:ln/>
        </p:spPr>
      </p:sp>
      <p:sp>
        <p:nvSpPr>
          <p:cNvPr id="14" name="Text 12"/>
          <p:cNvSpPr/>
          <p:nvPr/>
        </p:nvSpPr>
        <p:spPr>
          <a:xfrm>
            <a:off x="10019348" y="432601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Firearm Fatalities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0019348" y="4816435"/>
            <a:ext cx="355985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20,138 firearm deaths (excluding suicides) reported in 2022 alone.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3040" y="403146"/>
            <a:ext cx="4618077" cy="3664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2300" b="1" dirty="0">
                <a:solidFill>
                  <a:srgbClr val="FFF8F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Limitations of Current Systems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13040" y="1062752"/>
            <a:ext cx="13604319" cy="2344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Traditional gunshot detection systems face significant challenges in cost, coverage, and accuracy.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13040" y="1608653"/>
            <a:ext cx="1832610" cy="2289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FFF8F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Prohibitive Costs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13040" y="1984177"/>
            <a:ext cx="6623328" cy="4688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Acoustic systems average $65,000-$95,000 per mile annually, plus infrastructure and maintenance.</a:t>
            </a:r>
            <a:endParaRPr lang="en-US" sz="11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3040" y="2617946"/>
            <a:ext cx="6623328" cy="66233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501652" y="1608653"/>
            <a:ext cx="1832610" cy="2289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FFF8F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False Positives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501652" y="1984177"/>
            <a:ext cx="6623328" cy="2344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Mistaking loud noises like firecrackers for gunshots, straining emergency resources.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7501652" y="2350532"/>
            <a:ext cx="6623328" cy="2344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ShotSpotter in Chicago sends police on 60+ false alarms daily.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85017"/>
            <a:ext cx="8839438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FFF8F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Our Proposed Solution: System Design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93790" y="2105620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Our system seamlessly integrates with existing surveillance infrastructure, augmenting capabilities with real-time audio detection.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3086576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3C9C5"/>
                </a:solidFill>
                <a:latin typeface="Noto Serif HK Light" pitchFamily="34" charset="0"/>
                <a:ea typeface="Noto Serif HK Light" pitchFamily="34" charset="-122"/>
                <a:cs typeface="Noto Serif HK Light" pitchFamily="34" charset="-120"/>
              </a:rPr>
              <a:t>01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793790" y="3441621"/>
            <a:ext cx="6407944" cy="30480"/>
          </a:xfrm>
          <a:prstGeom prst="rect">
            <a:avLst/>
          </a:prstGeom>
          <a:solidFill>
            <a:srgbClr val="E2C2B3"/>
          </a:solidFill>
          <a:ln/>
        </p:spPr>
      </p:sp>
      <p:sp>
        <p:nvSpPr>
          <p:cNvPr id="6" name="Text 4"/>
          <p:cNvSpPr/>
          <p:nvPr/>
        </p:nvSpPr>
        <p:spPr>
          <a:xfrm>
            <a:off x="793790" y="361592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Microphone Inputs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93790" y="4106347"/>
            <a:ext cx="64079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Leverages pre-existing surveillance camera microphones. Three microphones enable sound source localization.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428548" y="3086576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3C9C5"/>
                </a:solidFill>
                <a:latin typeface="Noto Serif HK Light" pitchFamily="34" charset="0"/>
                <a:ea typeface="Noto Serif HK Light" pitchFamily="34" charset="-122"/>
                <a:cs typeface="Noto Serif HK Light" pitchFamily="34" charset="-120"/>
              </a:rPr>
              <a:t>02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428548" y="3441621"/>
            <a:ext cx="6408063" cy="30480"/>
          </a:xfrm>
          <a:prstGeom prst="rect">
            <a:avLst/>
          </a:prstGeom>
          <a:solidFill>
            <a:srgbClr val="E2C2B3"/>
          </a:solidFill>
          <a:ln/>
        </p:spPr>
      </p:sp>
      <p:sp>
        <p:nvSpPr>
          <p:cNvPr id="10" name="Text 8"/>
          <p:cNvSpPr/>
          <p:nvPr/>
        </p:nvSpPr>
        <p:spPr>
          <a:xfrm>
            <a:off x="7428548" y="361592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Audio Processing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428548" y="4106347"/>
            <a:ext cx="64080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Extracts Mel Frequency Cepstral Coefficients (MFCC) and other features from raw audio.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93790" y="5228987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3C9C5"/>
                </a:solidFill>
                <a:latin typeface="Noto Serif HK Light" pitchFamily="34" charset="0"/>
                <a:ea typeface="Noto Serif HK Light" pitchFamily="34" charset="-122"/>
                <a:cs typeface="Noto Serif HK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793790" y="5584031"/>
            <a:ext cx="6407944" cy="30480"/>
          </a:xfrm>
          <a:prstGeom prst="rect">
            <a:avLst/>
          </a:prstGeom>
          <a:solidFill>
            <a:srgbClr val="E2C2B3"/>
          </a:solidFill>
          <a:ln/>
        </p:spPr>
      </p:sp>
      <p:sp>
        <p:nvSpPr>
          <p:cNvPr id="14" name="Text 12"/>
          <p:cNvSpPr/>
          <p:nvPr/>
        </p:nvSpPr>
        <p:spPr>
          <a:xfrm>
            <a:off x="793790" y="5758339"/>
            <a:ext cx="359294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Machine Learning Model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93790" y="6248757"/>
            <a:ext cx="64079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Pre-trained model identifies gunshots from audio embeddings with high precision.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7428548" y="5228987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3C9C5"/>
                </a:solidFill>
                <a:latin typeface="Noto Serif HK Light" pitchFamily="34" charset="0"/>
                <a:ea typeface="Noto Serif HK Light" pitchFamily="34" charset="-122"/>
                <a:cs typeface="Noto Serif HK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7" name="Shape 15"/>
          <p:cNvSpPr/>
          <p:nvPr/>
        </p:nvSpPr>
        <p:spPr>
          <a:xfrm>
            <a:off x="7428548" y="5584031"/>
            <a:ext cx="6408063" cy="30480"/>
          </a:xfrm>
          <a:prstGeom prst="rect">
            <a:avLst/>
          </a:prstGeom>
          <a:solidFill>
            <a:srgbClr val="E2C2B3"/>
          </a:solidFill>
          <a:ln/>
        </p:spPr>
      </p:sp>
      <p:sp>
        <p:nvSpPr>
          <p:cNvPr id="18" name="Text 16"/>
          <p:cNvSpPr/>
          <p:nvPr/>
        </p:nvSpPr>
        <p:spPr>
          <a:xfrm>
            <a:off x="7428548" y="575833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Alert Mechanism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428548" y="6248757"/>
            <a:ext cx="64080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Triggers immediate, flexible alerts to law enforcement, control centers, or audible alarms.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80103"/>
            <a:ext cx="11188541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FFF8F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Machine Learning Models for Gunshot Detection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93790" y="280070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We developed two distinct machine learning models for binary classification of gunshot audio.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3645575"/>
            <a:ext cx="384393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8F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YAMNet Transfer Learning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90" y="4226719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Utilizes TensorFlow's pre-trained YAMNet for sound embeddings, trained with a three-layered neural network.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5519499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Achieved over 99% accuracy in training, testing, and validation sets.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599521" y="3645575"/>
            <a:ext cx="326528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8F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Audio MFCC Approach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599521" y="4226719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Processes Mel-frequency cepstral coefficients (MFCCs) with a nine-layered model including an LSTM layer.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599521" y="5156597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Demonstrated similarly high accuracy levels.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61555"/>
            <a:ext cx="9037558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FFF8F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Training Data: Gunshot &amp; Non-Gunshot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93790" y="298215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Our models were trained on a diverse dataset of 3,200 samples each, ensuring robust classification.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382702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8F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Gunshot Data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90" y="4408170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851 audio files from Kaggle Gunshot Audio Dataset, featuring various firearms (e.g., AK-47, M16, MP5).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5338048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Pre-processed with resampling and power filtering to eliminate irrelevant audio.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599521" y="382702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8F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Non-Gunshot Data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599521" y="4408170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Approximately 3600 seconds of audio from YouTube, including thunder, fireworks, drums, and barks.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599521" y="5338048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Underwent similar pre-processing, with no power threshold set.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29364"/>
            <a:ext cx="7704058" cy="510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FFF8F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Hardware Implementation Strategies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93790" y="1547932"/>
            <a:ext cx="13042821" cy="653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We explore four hardware platforms for deploying our power-independent, autonomous system, balancing performance, power, and cost.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93790" y="2430899"/>
            <a:ext cx="6419374" cy="2319218"/>
          </a:xfrm>
          <a:prstGeom prst="roundRect">
            <a:avLst>
              <a:gd name="adj" fmla="val 1320"/>
            </a:avLst>
          </a:prstGeom>
          <a:solidFill>
            <a:srgbClr val="5F5153"/>
          </a:solidFill>
          <a:ln/>
        </p:spPr>
      </p:sp>
      <p:sp>
        <p:nvSpPr>
          <p:cNvPr id="5" name="Shape 3"/>
          <p:cNvSpPr/>
          <p:nvPr/>
        </p:nvSpPr>
        <p:spPr>
          <a:xfrm>
            <a:off x="997863" y="2634972"/>
            <a:ext cx="612338" cy="612338"/>
          </a:xfrm>
          <a:prstGeom prst="roundRect">
            <a:avLst>
              <a:gd name="adj" fmla="val 14931436"/>
            </a:avLst>
          </a:prstGeom>
          <a:solidFill>
            <a:srgbClr val="E2C2B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6217" y="2768918"/>
            <a:ext cx="275511" cy="3444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97863" y="3451384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Microcontrollers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997863" y="3892629"/>
            <a:ext cx="6011228" cy="653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Compact, cost-effective, minimal power (milliwatt range), ideal for portable systems. Arduino boards ($20-$60).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417237" y="2430899"/>
            <a:ext cx="6419374" cy="2319218"/>
          </a:xfrm>
          <a:prstGeom prst="roundRect">
            <a:avLst>
              <a:gd name="adj" fmla="val 1320"/>
            </a:avLst>
          </a:prstGeom>
          <a:solidFill>
            <a:srgbClr val="5F5153"/>
          </a:solidFill>
          <a:ln/>
        </p:spPr>
      </p:sp>
      <p:sp>
        <p:nvSpPr>
          <p:cNvPr id="10" name="Shape 7"/>
          <p:cNvSpPr/>
          <p:nvPr/>
        </p:nvSpPr>
        <p:spPr>
          <a:xfrm>
            <a:off x="7621310" y="2634972"/>
            <a:ext cx="612338" cy="612338"/>
          </a:xfrm>
          <a:prstGeom prst="roundRect">
            <a:avLst>
              <a:gd name="adj" fmla="val 14931436"/>
            </a:avLst>
          </a:prstGeom>
          <a:solidFill>
            <a:srgbClr val="E2C2B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9664" y="2768918"/>
            <a:ext cx="275511" cy="3444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621310" y="3451384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Small Computers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7621310" y="3892629"/>
            <a:ext cx="6011228" cy="653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Raspberry Pi ($35) offers more computational power than microcontrollers with low power consumption (2-3 watts).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793790" y="4954191"/>
            <a:ext cx="6419374" cy="2645926"/>
          </a:xfrm>
          <a:prstGeom prst="roundRect">
            <a:avLst>
              <a:gd name="adj" fmla="val 1157"/>
            </a:avLst>
          </a:prstGeom>
          <a:solidFill>
            <a:srgbClr val="5F5153"/>
          </a:solidFill>
          <a:ln/>
        </p:spPr>
      </p:sp>
      <p:sp>
        <p:nvSpPr>
          <p:cNvPr id="15" name="Shape 11"/>
          <p:cNvSpPr/>
          <p:nvPr/>
        </p:nvSpPr>
        <p:spPr>
          <a:xfrm>
            <a:off x="997863" y="5158264"/>
            <a:ext cx="612338" cy="612338"/>
          </a:xfrm>
          <a:prstGeom prst="roundRect">
            <a:avLst>
              <a:gd name="adj" fmla="val 14931436"/>
            </a:avLst>
          </a:prstGeom>
          <a:solidFill>
            <a:srgbClr val="E2C2B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6217" y="5292209"/>
            <a:ext cx="275511" cy="34444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97863" y="5974675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FPGA</a:t>
            </a:r>
            <a:endParaRPr lang="en-US" sz="2000" dirty="0"/>
          </a:p>
        </p:txBody>
      </p:sp>
      <p:sp>
        <p:nvSpPr>
          <p:cNvPr id="18" name="Text 13"/>
          <p:cNvSpPr/>
          <p:nvPr/>
        </p:nvSpPr>
        <p:spPr>
          <a:xfrm>
            <a:off x="997863" y="6415921"/>
            <a:ext cx="6011228" cy="980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Field-Programmable Gate Arrays provide parallel processing for rapid, accurate detection. Higher cost ($100s-$1000s), but high performance.</a:t>
            </a:r>
            <a:endParaRPr lang="en-US" sz="1600" dirty="0"/>
          </a:p>
        </p:txBody>
      </p:sp>
      <p:sp>
        <p:nvSpPr>
          <p:cNvPr id="19" name="Shape 14"/>
          <p:cNvSpPr/>
          <p:nvPr/>
        </p:nvSpPr>
        <p:spPr>
          <a:xfrm>
            <a:off x="7417237" y="4954191"/>
            <a:ext cx="6419374" cy="2645926"/>
          </a:xfrm>
          <a:prstGeom prst="roundRect">
            <a:avLst>
              <a:gd name="adj" fmla="val 1157"/>
            </a:avLst>
          </a:prstGeom>
          <a:solidFill>
            <a:srgbClr val="5F5153"/>
          </a:solidFill>
          <a:ln/>
        </p:spPr>
      </p:sp>
      <p:sp>
        <p:nvSpPr>
          <p:cNvPr id="20" name="Shape 15"/>
          <p:cNvSpPr/>
          <p:nvPr/>
        </p:nvSpPr>
        <p:spPr>
          <a:xfrm>
            <a:off x="7621310" y="5158264"/>
            <a:ext cx="612338" cy="612338"/>
          </a:xfrm>
          <a:prstGeom prst="roundRect">
            <a:avLst>
              <a:gd name="adj" fmla="val 14931436"/>
            </a:avLst>
          </a:prstGeom>
          <a:solidFill>
            <a:srgbClr val="E2C2B3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9664" y="5292209"/>
            <a:ext cx="275511" cy="34444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621310" y="5974675"/>
            <a:ext cx="3094077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Cloud-based Processing</a:t>
            </a:r>
            <a:endParaRPr lang="en-US" sz="2000" dirty="0"/>
          </a:p>
        </p:txBody>
      </p:sp>
      <p:sp>
        <p:nvSpPr>
          <p:cNvPr id="23" name="Text 17"/>
          <p:cNvSpPr/>
          <p:nvPr/>
        </p:nvSpPr>
        <p:spPr>
          <a:xfrm>
            <a:off x="7621310" y="6415921"/>
            <a:ext cx="6011228" cy="980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Leverages remote data centers for complex algorithms, reducing local hardware needs. Highest accuracy, but ongoing costs.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78067"/>
            <a:ext cx="8909685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FFF8F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Model Performance: YAMNet vs. MFCC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93790" y="2698671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Both models demonstrate high accuracy, with YAMNet showing slightly superior performance in validation and testing.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3906441"/>
            <a:ext cx="481191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8F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YAMNet Transfer Learning Model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90" y="4487585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Training Accuracy: 99.79%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5054560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Test Accuracy: 98.75%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5621536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Misclassifications: 5 non-gunshots as gunshots, 3 gunshots as non-gunshots (out of 1280 samples).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599521" y="3906441"/>
            <a:ext cx="370284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8F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Audio MFCC-based Model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599521" y="4487585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Training Accuracy: 99.84%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599521" y="5054560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Test Accuracy: 96.95%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599521" y="5621536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Misclassifications: 23 non-gunshots as gunshots, 16 gunshots as non-gunshots (out of 1280 samples).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45431"/>
            <a:ext cx="5814536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FFF8F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Key Insights &amp; Trade-offs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93790" y="2566035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Effective gunshot classification is achievable, but real-world deployment requires optimizing for efficiency.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184088"/>
            <a:ext cx="4196358" cy="3499961"/>
          </a:xfrm>
          <a:prstGeom prst="roundRect">
            <a:avLst>
              <a:gd name="adj" fmla="val 972"/>
            </a:avLst>
          </a:prstGeom>
          <a:solidFill>
            <a:srgbClr val="403234"/>
          </a:solidFill>
          <a:ln w="30480">
            <a:solidFill>
              <a:srgbClr val="786A6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4270" y="3214568"/>
            <a:ext cx="4135398" cy="680442"/>
          </a:xfrm>
          <a:prstGeom prst="rect">
            <a:avLst/>
          </a:prstGeom>
          <a:solidFill>
            <a:srgbClr val="5F5153"/>
          </a:solidFill>
          <a:ln/>
        </p:spPr>
      </p:sp>
      <p:sp>
        <p:nvSpPr>
          <p:cNvPr id="6" name="Text 4"/>
          <p:cNvSpPr/>
          <p:nvPr/>
        </p:nvSpPr>
        <p:spPr>
          <a:xfrm>
            <a:off x="2721888" y="3342084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1</a:t>
            </a:r>
            <a:endParaRPr lang="en-US" sz="2650" dirty="0"/>
          </a:p>
        </p:txBody>
      </p:sp>
      <p:sp>
        <p:nvSpPr>
          <p:cNvPr id="7" name="Text 5"/>
          <p:cNvSpPr/>
          <p:nvPr/>
        </p:nvSpPr>
        <p:spPr>
          <a:xfrm>
            <a:off x="1051084" y="4121825"/>
            <a:ext cx="28683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Model Optimization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51084" y="4612243"/>
            <a:ext cx="368177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Focus on reducing model size while preserving high performance for smaller, power-efficient chips.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5216962" y="3184088"/>
            <a:ext cx="4196358" cy="3499961"/>
          </a:xfrm>
          <a:prstGeom prst="roundRect">
            <a:avLst>
              <a:gd name="adj" fmla="val 972"/>
            </a:avLst>
          </a:prstGeom>
          <a:solidFill>
            <a:srgbClr val="403234"/>
          </a:solidFill>
          <a:ln w="30480">
            <a:solidFill>
              <a:srgbClr val="786A6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247442" y="3214568"/>
            <a:ext cx="4135398" cy="680442"/>
          </a:xfrm>
          <a:prstGeom prst="rect">
            <a:avLst/>
          </a:prstGeom>
          <a:solidFill>
            <a:srgbClr val="5F5153"/>
          </a:solidFill>
          <a:ln/>
        </p:spPr>
      </p:sp>
      <p:sp>
        <p:nvSpPr>
          <p:cNvPr id="11" name="Text 9"/>
          <p:cNvSpPr/>
          <p:nvPr/>
        </p:nvSpPr>
        <p:spPr>
          <a:xfrm>
            <a:off x="7145060" y="3342084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2</a:t>
            </a:r>
            <a:endParaRPr lang="en-US" sz="2650" dirty="0"/>
          </a:p>
        </p:txBody>
      </p:sp>
      <p:sp>
        <p:nvSpPr>
          <p:cNvPr id="12" name="Text 10"/>
          <p:cNvSpPr/>
          <p:nvPr/>
        </p:nvSpPr>
        <p:spPr>
          <a:xfrm>
            <a:off x="5474256" y="4121825"/>
            <a:ext cx="368177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Computational Resources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474256" y="4966573"/>
            <a:ext cx="368177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YAMNet's superior accuracy may demand more computational resources, a key consideration for limited devices.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9640133" y="3184088"/>
            <a:ext cx="4196358" cy="3499961"/>
          </a:xfrm>
          <a:prstGeom prst="roundRect">
            <a:avLst>
              <a:gd name="adj" fmla="val 972"/>
            </a:avLst>
          </a:prstGeom>
          <a:solidFill>
            <a:srgbClr val="403234"/>
          </a:solidFill>
          <a:ln w="30480">
            <a:solidFill>
              <a:srgbClr val="786A6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70613" y="3214568"/>
            <a:ext cx="4135398" cy="680442"/>
          </a:xfrm>
          <a:prstGeom prst="rect">
            <a:avLst/>
          </a:prstGeom>
          <a:solidFill>
            <a:srgbClr val="5F5153"/>
          </a:solidFill>
          <a:ln/>
        </p:spPr>
      </p:sp>
      <p:sp>
        <p:nvSpPr>
          <p:cNvPr id="16" name="Text 14"/>
          <p:cNvSpPr/>
          <p:nvPr/>
        </p:nvSpPr>
        <p:spPr>
          <a:xfrm>
            <a:off x="11568232" y="3342084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3</a:t>
            </a:r>
            <a:endParaRPr lang="en-US" sz="2650" dirty="0"/>
          </a:p>
        </p:txBody>
      </p:sp>
      <p:sp>
        <p:nvSpPr>
          <p:cNvPr id="17" name="Text 15"/>
          <p:cNvSpPr/>
          <p:nvPr/>
        </p:nvSpPr>
        <p:spPr>
          <a:xfrm>
            <a:off x="9897427" y="412182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Balancing Factors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897427" y="4612243"/>
            <a:ext cx="368177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Crucial trade-offs exist between model size, computational needs, power consumption, and accuracy for optimal deployment strategies.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62564"/>
            <a:ext cx="636412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FFF8F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Significance &amp; Future Work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93790" y="2483168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This research is a crucial step in mitigating gun violence, demonstrating the viability of machine learning for real-time threat detection.</a:t>
            </a:r>
            <a:endParaRPr lang="en-US" sz="17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3464123"/>
            <a:ext cx="4347567" cy="9072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20604" y="4598194"/>
            <a:ext cx="339994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Hardware Optimization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20604" y="5088612"/>
            <a:ext cx="389393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Further optimize model setup for each hardware configuration, ensuring high performance under stringent constraints.</a:t>
            </a:r>
            <a:endParaRPr lang="en-US" sz="17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1357" y="3464123"/>
            <a:ext cx="4347567" cy="90725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368171" y="4598194"/>
            <a:ext cx="322397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Expanded Capabilities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5368171" y="5088612"/>
            <a:ext cx="389393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Enhance recognition of diverse firearms and scenarios for broader real-world applicability.</a:t>
            </a:r>
            <a:endParaRPr lang="en-US" sz="17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8924" y="3464123"/>
            <a:ext cx="4347567" cy="90725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715738" y="4598194"/>
            <a:ext cx="296179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Integrated Response</a:t>
            </a:r>
            <a:endParaRPr lang="en-US" sz="2200" dirty="0"/>
          </a:p>
        </p:txBody>
      </p:sp>
      <p:sp>
        <p:nvSpPr>
          <p:cNvPr id="12" name="Text 7"/>
          <p:cNvSpPr/>
          <p:nvPr/>
        </p:nvSpPr>
        <p:spPr>
          <a:xfrm>
            <a:off x="9715738" y="5088612"/>
            <a:ext cx="389393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Integrate detection systems with emergency response units or multi-modal sensor data for enhanced accuracy.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2025-09-03T11:48:42Z</dcterms:created>
  <dcterms:modified xsi:type="dcterms:W3CDTF">2025-09-03T11:48:42Z</dcterms:modified>
</cp:coreProperties>
</file>