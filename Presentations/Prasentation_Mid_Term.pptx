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jpg" ContentType="image/jpg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7985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75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75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6953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75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8223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75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6953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6953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75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307638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6953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300018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7352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6953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3364623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91376"/>
                </a:lnTo>
                <a:lnTo>
                  <a:pt x="1535976" y="91376"/>
                </a:lnTo>
                <a:lnTo>
                  <a:pt x="3071952" y="91376"/>
                </a:lnTo>
                <a:lnTo>
                  <a:pt x="4607928" y="91376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72527"/>
            <a:ext cx="273875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77F2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77F2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77F2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7985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75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75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6953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75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8223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75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6953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6953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75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307638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6953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300018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7352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6953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3364623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91376"/>
                </a:lnTo>
                <a:lnTo>
                  <a:pt x="1535976" y="91376"/>
                </a:lnTo>
                <a:lnTo>
                  <a:pt x="3071952" y="91376"/>
                </a:lnTo>
                <a:lnTo>
                  <a:pt x="4607928" y="91376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77F2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7985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75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75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6953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75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8223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75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6953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6953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75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307638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6953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300018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7352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6953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72527"/>
            <a:ext cx="354330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77F2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1511" y="740074"/>
            <a:ext cx="4307077" cy="2012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84181" y="3367039"/>
            <a:ext cx="499110" cy="8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348638" y="3367039"/>
            <a:ext cx="215900" cy="8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image" Target="../media/image2.png"/><Relationship Id="rId5" Type="http://schemas.openxmlformats.org/officeDocument/2006/relationships/slide" Target="slide6.xml"/><Relationship Id="rId6" Type="http://schemas.openxmlformats.org/officeDocument/2006/relationships/image" Target="../media/image3.png"/><Relationship Id="rId7" Type="http://schemas.openxmlformats.org/officeDocument/2006/relationships/slide" Target="slide14.xml"/><Relationship Id="rId8" Type="http://schemas.openxmlformats.org/officeDocument/2006/relationships/image" Target="../media/image4.png"/><Relationship Id="rId9" Type="http://schemas.openxmlformats.org/officeDocument/2006/relationships/slide" Target="slide20.xml"/><Relationship Id="rId10" Type="http://schemas.openxmlformats.org/officeDocument/2006/relationships/image" Target="../media/image5.png"/><Relationship Id="rId11" Type="http://schemas.openxmlformats.org/officeDocument/2006/relationships/slide" Target="slide23.xml"/><Relationship Id="rId12" Type="http://schemas.openxmlformats.org/officeDocument/2006/relationships/slide" Target="slide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" Target="slide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" Target="slide1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6.xml"/><Relationship Id="rId3" Type="http://schemas.openxmlformats.org/officeDocument/2006/relationships/slide" Target="slide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" Target="slide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slide" Target="slide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12.png"/><Relationship Id="rId4" Type="http://schemas.openxmlformats.org/officeDocument/2006/relationships/slide" Target="slide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slide" Target="slide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jpg"/><Relationship Id="rId3" Type="http://schemas.openxmlformats.org/officeDocument/2006/relationships/slide" Target="slide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jpg"/><Relationship Id="rId3" Type="http://schemas.openxmlformats.org/officeDocument/2006/relationships/slide" Target="slide1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24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slide" Target="slide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4.xml"/><Relationship Id="rId3" Type="http://schemas.openxmlformats.org/officeDocument/2006/relationships/slide" Target="slide1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slide" Target="slide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slide" Target="slide1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9.png"/><Relationship Id="rId3" Type="http://schemas.openxmlformats.org/officeDocument/2006/relationships/slide" Target="slide1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9.xml"/><Relationship Id="rId3" Type="http://schemas.openxmlformats.org/officeDocument/2006/relationships/slide" Target="slide1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slide" Target="slide1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jpg"/><Relationship Id="rId3" Type="http://schemas.openxmlformats.org/officeDocument/2006/relationships/slide" Target="slide1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2.xml"/><Relationship Id="rId3" Type="http://schemas.openxmlformats.org/officeDocument/2006/relationships/slide" Target="slide1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xpx5059@psu.edu" TargetMode="External"/><Relationship Id="rId3" Type="http://schemas.openxmlformats.org/officeDocument/2006/relationships/hyperlink" Target="https://github.com/tensorflow/models/tree/master/research/audioset/yamnet" TargetMode="External"/><Relationship Id="rId4" Type="http://schemas.openxmlformats.org/officeDocument/2006/relationships/slide" Target="slide1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" Target="slide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729" y="690816"/>
            <a:ext cx="4507865" cy="502920"/>
            <a:chOff x="75729" y="690816"/>
            <a:chExt cx="4507865" cy="502920"/>
          </a:xfrm>
        </p:grpSpPr>
        <p:sp>
          <p:nvSpPr>
            <p:cNvPr id="3" name="object 3" descr=""/>
            <p:cNvSpPr/>
            <p:nvPr/>
          </p:nvSpPr>
          <p:spPr>
            <a:xfrm>
              <a:off x="75729" y="690816"/>
              <a:ext cx="4457065" cy="82550"/>
            </a:xfrm>
            <a:custGeom>
              <a:avLst/>
              <a:gdLst/>
              <a:ahLst/>
              <a:cxnLst/>
              <a:rect l="l" t="t" r="r" b="b"/>
              <a:pathLst>
                <a:path w="4457065" h="82550">
                  <a:moveTo>
                    <a:pt x="440580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56606" y="82384"/>
                  </a:lnTo>
                  <a:lnTo>
                    <a:pt x="4456606" y="50800"/>
                  </a:lnTo>
                  <a:lnTo>
                    <a:pt x="4452598" y="31075"/>
                  </a:lnTo>
                  <a:lnTo>
                    <a:pt x="4441684" y="14922"/>
                  </a:lnTo>
                  <a:lnTo>
                    <a:pt x="4425531" y="4008"/>
                  </a:lnTo>
                  <a:lnTo>
                    <a:pt x="4405806" y="0"/>
                  </a:lnTo>
                  <a:close/>
                </a:path>
              </a:pathLst>
            </a:custGeom>
            <a:solidFill>
              <a:srgbClr val="F77F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6530" y="754077"/>
              <a:ext cx="4457065" cy="439420"/>
            </a:xfrm>
            <a:custGeom>
              <a:avLst/>
              <a:gdLst/>
              <a:ahLst/>
              <a:cxnLst/>
              <a:rect l="l" t="t" r="r" b="b"/>
              <a:pathLst>
                <a:path w="4457065" h="439419">
                  <a:moveTo>
                    <a:pt x="4456607" y="0"/>
                  </a:moveTo>
                  <a:lnTo>
                    <a:pt x="0" y="0"/>
                  </a:lnTo>
                  <a:lnTo>
                    <a:pt x="0" y="439101"/>
                  </a:lnTo>
                  <a:lnTo>
                    <a:pt x="4456607" y="439101"/>
                  </a:lnTo>
                  <a:lnTo>
                    <a:pt x="44566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5729" y="735240"/>
              <a:ext cx="4457065" cy="407670"/>
            </a:xfrm>
            <a:custGeom>
              <a:avLst/>
              <a:gdLst/>
              <a:ahLst/>
              <a:cxnLst/>
              <a:rect l="l" t="t" r="r" b="b"/>
              <a:pathLst>
                <a:path w="4457065" h="407669">
                  <a:moveTo>
                    <a:pt x="4456606" y="0"/>
                  </a:moveTo>
                  <a:lnTo>
                    <a:pt x="0" y="0"/>
                  </a:lnTo>
                  <a:lnTo>
                    <a:pt x="0" y="356337"/>
                  </a:lnTo>
                  <a:lnTo>
                    <a:pt x="4008" y="376062"/>
                  </a:lnTo>
                  <a:lnTo>
                    <a:pt x="14922" y="392215"/>
                  </a:lnTo>
                  <a:lnTo>
                    <a:pt x="31075" y="403129"/>
                  </a:lnTo>
                  <a:lnTo>
                    <a:pt x="50800" y="407137"/>
                  </a:lnTo>
                  <a:lnTo>
                    <a:pt x="4405806" y="407137"/>
                  </a:lnTo>
                  <a:lnTo>
                    <a:pt x="4425531" y="403129"/>
                  </a:lnTo>
                  <a:lnTo>
                    <a:pt x="4441684" y="392215"/>
                  </a:lnTo>
                  <a:lnTo>
                    <a:pt x="4452598" y="376062"/>
                  </a:lnTo>
                  <a:lnTo>
                    <a:pt x="4456606" y="356337"/>
                  </a:lnTo>
                  <a:lnTo>
                    <a:pt x="4456606" y="0"/>
                  </a:lnTo>
                  <a:close/>
                </a:path>
              </a:pathLst>
            </a:custGeom>
            <a:solidFill>
              <a:srgbClr val="F77F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6530" y="754077"/>
            <a:ext cx="4457065" cy="439420"/>
          </a:xfrm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algn="ctr" marR="93345">
              <a:lnSpc>
                <a:spcPct val="100000"/>
              </a:lnSpc>
              <a:spcBef>
                <a:spcPts val="475"/>
              </a:spcBef>
            </a:pPr>
            <a:r>
              <a:rPr dirty="0" sz="1200" spc="-50" b="1">
                <a:solidFill>
                  <a:srgbClr val="000000"/>
                </a:solidFill>
                <a:latin typeface="Arial"/>
                <a:cs typeface="Arial"/>
              </a:rPr>
              <a:t>Gunshot</a:t>
            </a:r>
            <a:r>
              <a:rPr dirty="0" sz="1200" b="1">
                <a:solidFill>
                  <a:srgbClr val="000000"/>
                </a:solidFill>
                <a:latin typeface="Arial"/>
                <a:cs typeface="Arial"/>
              </a:rPr>
              <a:t> Detection </a:t>
            </a:r>
            <a:r>
              <a:rPr dirty="0" sz="1200" spc="-30" b="1">
                <a:solidFill>
                  <a:srgbClr val="000000"/>
                </a:solidFill>
                <a:latin typeface="Arial"/>
                <a:cs typeface="Arial"/>
              </a:rPr>
              <a:t>System</a:t>
            </a:r>
            <a:r>
              <a:rPr dirty="0" sz="1200" spc="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0000"/>
                </a:solidFill>
                <a:latin typeface="Arial"/>
                <a:cs typeface="Arial"/>
              </a:rPr>
              <a:t>On</a:t>
            </a:r>
            <a:r>
              <a:rPr dirty="0" sz="1200" spc="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200" spc="-30" b="1">
                <a:solidFill>
                  <a:srgbClr val="000000"/>
                </a:solidFill>
                <a:latin typeface="Arial"/>
                <a:cs typeface="Arial"/>
              </a:rPr>
              <a:t>Edge</a:t>
            </a:r>
            <a:r>
              <a:rPr dirty="0" sz="12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0000"/>
                </a:solidFill>
                <a:latin typeface="Arial"/>
                <a:cs typeface="Arial"/>
              </a:rPr>
              <a:t>Devices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24319" y="1347972"/>
            <a:ext cx="3759835" cy="10433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38735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Tahoma"/>
                <a:cs typeface="Tahoma"/>
              </a:rPr>
              <a:t>Under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guidance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of</a:t>
            </a:r>
            <a:r>
              <a:rPr dirty="0" sz="900" spc="95">
                <a:latin typeface="Tahoma"/>
                <a:cs typeface="Tahoma"/>
              </a:rPr>
              <a:t> </a:t>
            </a:r>
            <a:r>
              <a:rPr dirty="0" sz="900" b="1">
                <a:latin typeface="Arial"/>
                <a:cs typeface="Arial"/>
              </a:rPr>
              <a:t>Dr.</a:t>
            </a:r>
            <a:r>
              <a:rPr dirty="0" sz="900" spc="18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SHAIK</a:t>
            </a:r>
            <a:r>
              <a:rPr dirty="0" sz="900" spc="8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RIYAZ</a:t>
            </a:r>
            <a:r>
              <a:rPr dirty="0" sz="900" spc="7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HUSSAIN</a:t>
            </a:r>
            <a:r>
              <a:rPr dirty="0" sz="900" spc="75" b="1">
                <a:latin typeface="Arial"/>
                <a:cs typeface="Arial"/>
              </a:rPr>
              <a:t> </a:t>
            </a:r>
            <a:r>
              <a:rPr dirty="0" sz="900" spc="-25" b="1">
                <a:latin typeface="Arial"/>
                <a:cs typeface="Arial"/>
              </a:rPr>
              <a:t>SIR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dirty="0" sz="900" spc="-20">
                <a:latin typeface="Tahoma"/>
                <a:cs typeface="Tahoma"/>
              </a:rPr>
              <a:t>Prepared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by:</a:t>
            </a:r>
            <a:endParaRPr sz="900">
              <a:latin typeface="Tahoma"/>
              <a:cs typeface="Tahoma"/>
            </a:endParaRPr>
          </a:p>
          <a:p>
            <a:pPr marL="1126490">
              <a:lnSpc>
                <a:spcPct val="100000"/>
              </a:lnSpc>
              <a:spcBef>
                <a:spcPts val="15"/>
              </a:spcBef>
            </a:pPr>
            <a:r>
              <a:rPr dirty="0" sz="900" b="1">
                <a:latin typeface="Arial"/>
                <a:cs typeface="Arial"/>
              </a:rPr>
              <a:t>P.</a:t>
            </a:r>
            <a:r>
              <a:rPr dirty="0" sz="900" spc="35" b="1">
                <a:latin typeface="Arial"/>
                <a:cs typeface="Arial"/>
              </a:rPr>
              <a:t> </a:t>
            </a:r>
            <a:r>
              <a:rPr dirty="0" sz="900" spc="-20" b="1">
                <a:latin typeface="Arial"/>
                <a:cs typeface="Arial"/>
              </a:rPr>
              <a:t>Praveen</a:t>
            </a:r>
            <a:r>
              <a:rPr dirty="0" sz="900" spc="3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Kumar</a:t>
            </a:r>
            <a:r>
              <a:rPr dirty="0" sz="900" spc="3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-</a:t>
            </a:r>
            <a:r>
              <a:rPr dirty="0" sz="900" spc="4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N210402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900">
                <a:latin typeface="Tahoma"/>
                <a:cs typeface="Tahoma"/>
              </a:rPr>
              <a:t>RAJIV</a:t>
            </a:r>
            <a:r>
              <a:rPr dirty="0" sz="900" spc="19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GANDHI</a:t>
            </a:r>
            <a:r>
              <a:rPr dirty="0" sz="900" spc="19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UNIVERSITY</a:t>
            </a:r>
            <a:r>
              <a:rPr dirty="0" sz="900" spc="19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OF</a:t>
            </a:r>
            <a:r>
              <a:rPr dirty="0" sz="900" spc="190">
                <a:latin typeface="Tahoma"/>
                <a:cs typeface="Tahoma"/>
              </a:rPr>
              <a:t> </a:t>
            </a:r>
            <a:r>
              <a:rPr dirty="0" sz="900" spc="45">
                <a:latin typeface="Tahoma"/>
                <a:cs typeface="Tahoma"/>
              </a:rPr>
              <a:t>KNOWLEDGE</a:t>
            </a:r>
            <a:r>
              <a:rPr dirty="0" sz="900" spc="19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TECHNOGIES,</a:t>
            </a:r>
            <a:r>
              <a:rPr dirty="0" sz="900" spc="19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NUZVID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900">
              <a:latin typeface="Tahoma"/>
              <a:cs typeface="Tahoma"/>
            </a:endParaRPr>
          </a:p>
          <a:p>
            <a:pPr algn="ctr" marL="38735">
              <a:lnSpc>
                <a:spcPct val="100000"/>
              </a:lnSpc>
            </a:pPr>
            <a:r>
              <a:rPr dirty="0" sz="900">
                <a:latin typeface="Tahoma"/>
                <a:cs typeface="Tahoma"/>
              </a:rPr>
              <a:t>25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October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2025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0" y="3364636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91363"/>
                </a:lnTo>
                <a:lnTo>
                  <a:pt x="1535963" y="91363"/>
                </a:lnTo>
                <a:lnTo>
                  <a:pt x="3071939" y="91363"/>
                </a:lnTo>
                <a:lnTo>
                  <a:pt x="4607928" y="91363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364623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91376"/>
                </a:lnTo>
                <a:lnTo>
                  <a:pt x="1535963" y="91376"/>
                </a:lnTo>
                <a:lnTo>
                  <a:pt x="3071939" y="91376"/>
                </a:lnTo>
                <a:lnTo>
                  <a:pt x="4607928" y="91376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Table</a:t>
            </a:r>
            <a:r>
              <a:rPr dirty="0" spc="-70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 spc="-25"/>
              <a:t>Contents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4" y="811149"/>
            <a:ext cx="146202" cy="14620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18414" y="812040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FEF2E9"/>
                </a:solidFill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68465" y="784382"/>
            <a:ext cx="6731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Introduction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534" y="1237297"/>
            <a:ext cx="146202" cy="146202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18414" y="1238189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FEF2E9"/>
                </a:solidFill>
                <a:latin typeface="Arial MT"/>
                <a:cs typeface="Arial MT"/>
              </a:rPr>
              <a:t>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68465" y="1210531"/>
            <a:ext cx="11487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Base</a:t>
            </a:r>
            <a:r>
              <a:rPr dirty="0" sz="1000" spc="-4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Paper</a:t>
            </a:r>
            <a:r>
              <a:rPr dirty="0" sz="1000" spc="-4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1000" spc="-35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Overview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534" y="1663446"/>
            <a:ext cx="146202" cy="146202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18414" y="1664337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FEF2E9"/>
                </a:solidFill>
                <a:latin typeface="Arial MT"/>
                <a:cs typeface="Arial MT"/>
              </a:rPr>
              <a:t>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68465" y="1636679"/>
            <a:ext cx="9264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Results</a:t>
            </a:r>
            <a:r>
              <a:rPr dirty="0" sz="1000" spc="-35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000" spc="-25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Obtained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534" y="2089594"/>
            <a:ext cx="146202" cy="146202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18414" y="2090486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FEF2E9"/>
                </a:solidFill>
                <a:latin typeface="Arial MT"/>
                <a:cs typeface="Arial MT"/>
              </a:rPr>
              <a:t>4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68465" y="2062840"/>
            <a:ext cx="11601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  <a:hlinkClick r:id="rId9" action="ppaction://hlinksldjump"/>
              </a:rPr>
              <a:t>Model</a:t>
            </a:r>
            <a:r>
              <a:rPr dirty="0" sz="1000" spc="-20">
                <a:solidFill>
                  <a:srgbClr val="3333B2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1000" spc="-35">
                <a:solidFill>
                  <a:srgbClr val="3333B2"/>
                </a:solidFill>
                <a:latin typeface="Tahoma"/>
                <a:cs typeface="Tahoma"/>
                <a:hlinkClick r:id="rId9" action="ppaction://hlinksldjump"/>
              </a:rPr>
              <a:t>Advancements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1534" y="2515743"/>
            <a:ext cx="146202" cy="146202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118414" y="2488989"/>
            <a:ext cx="7340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7936" sz="1050">
                <a:solidFill>
                  <a:srgbClr val="FEF2E9"/>
                </a:solidFill>
                <a:latin typeface="Arial MT"/>
                <a:cs typeface="Arial MT"/>
              </a:rPr>
              <a:t>5</a:t>
            </a:r>
            <a:r>
              <a:rPr dirty="0" baseline="7936" sz="1050" spc="307">
                <a:solidFill>
                  <a:srgbClr val="FEF2E9"/>
                </a:solidFill>
                <a:latin typeface="Arial MT"/>
                <a:cs typeface="Arial MT"/>
              </a:rPr>
              <a:t>  </a:t>
            </a:r>
            <a:r>
              <a:rPr dirty="0" sz="1000" spc="-50">
                <a:solidFill>
                  <a:srgbClr val="3333B2"/>
                </a:solidFill>
                <a:latin typeface="Tahoma"/>
                <a:cs typeface="Tahoma"/>
                <a:hlinkClick r:id="rId11" action="ppaction://hlinksldjump"/>
              </a:rPr>
              <a:t>References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729" y="1293761"/>
            <a:ext cx="4507865" cy="473075"/>
            <a:chOff x="75729" y="1293761"/>
            <a:chExt cx="4507865" cy="473075"/>
          </a:xfrm>
        </p:grpSpPr>
        <p:sp>
          <p:nvSpPr>
            <p:cNvPr id="3" name="object 3" descr=""/>
            <p:cNvSpPr/>
            <p:nvPr/>
          </p:nvSpPr>
          <p:spPr>
            <a:xfrm>
              <a:off x="75729" y="1293761"/>
              <a:ext cx="4457065" cy="82550"/>
            </a:xfrm>
            <a:custGeom>
              <a:avLst/>
              <a:gdLst/>
              <a:ahLst/>
              <a:cxnLst/>
              <a:rect l="l" t="t" r="r" b="b"/>
              <a:pathLst>
                <a:path w="4457065" h="82550">
                  <a:moveTo>
                    <a:pt x="440580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56606" y="82384"/>
                  </a:lnTo>
                  <a:lnTo>
                    <a:pt x="4456606" y="50800"/>
                  </a:lnTo>
                  <a:lnTo>
                    <a:pt x="4452598" y="31075"/>
                  </a:lnTo>
                  <a:lnTo>
                    <a:pt x="4441684" y="14922"/>
                  </a:lnTo>
                  <a:lnTo>
                    <a:pt x="4425531" y="4008"/>
                  </a:lnTo>
                  <a:lnTo>
                    <a:pt x="4405806" y="0"/>
                  </a:lnTo>
                  <a:close/>
                </a:path>
              </a:pathLst>
            </a:custGeom>
            <a:solidFill>
              <a:srgbClr val="F77F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6530" y="1357018"/>
              <a:ext cx="4457065" cy="409575"/>
            </a:xfrm>
            <a:custGeom>
              <a:avLst/>
              <a:gdLst/>
              <a:ahLst/>
              <a:cxnLst/>
              <a:rect l="l" t="t" r="r" b="b"/>
              <a:pathLst>
                <a:path w="4457065" h="409575">
                  <a:moveTo>
                    <a:pt x="4456607" y="0"/>
                  </a:moveTo>
                  <a:lnTo>
                    <a:pt x="0" y="0"/>
                  </a:lnTo>
                  <a:lnTo>
                    <a:pt x="0" y="409578"/>
                  </a:lnTo>
                  <a:lnTo>
                    <a:pt x="4456607" y="409578"/>
                  </a:lnTo>
                  <a:lnTo>
                    <a:pt x="44566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5729" y="1338181"/>
              <a:ext cx="4457065" cy="377825"/>
            </a:xfrm>
            <a:custGeom>
              <a:avLst/>
              <a:gdLst/>
              <a:ahLst/>
              <a:cxnLst/>
              <a:rect l="l" t="t" r="r" b="b"/>
              <a:pathLst>
                <a:path w="4457065" h="377825">
                  <a:moveTo>
                    <a:pt x="4456606" y="0"/>
                  </a:moveTo>
                  <a:lnTo>
                    <a:pt x="0" y="0"/>
                  </a:lnTo>
                  <a:lnTo>
                    <a:pt x="0" y="326814"/>
                  </a:lnTo>
                  <a:lnTo>
                    <a:pt x="4008" y="346538"/>
                  </a:lnTo>
                  <a:lnTo>
                    <a:pt x="14922" y="362691"/>
                  </a:lnTo>
                  <a:lnTo>
                    <a:pt x="31075" y="373606"/>
                  </a:lnTo>
                  <a:lnTo>
                    <a:pt x="50800" y="377614"/>
                  </a:lnTo>
                  <a:lnTo>
                    <a:pt x="4405806" y="377614"/>
                  </a:lnTo>
                  <a:lnTo>
                    <a:pt x="4425531" y="373606"/>
                  </a:lnTo>
                  <a:lnTo>
                    <a:pt x="4441684" y="362691"/>
                  </a:lnTo>
                  <a:lnTo>
                    <a:pt x="4452598" y="346538"/>
                  </a:lnTo>
                  <a:lnTo>
                    <a:pt x="4456606" y="326814"/>
                  </a:lnTo>
                  <a:lnTo>
                    <a:pt x="4456606" y="0"/>
                  </a:lnTo>
                  <a:close/>
                </a:path>
              </a:pathLst>
            </a:custGeom>
            <a:solidFill>
              <a:srgbClr val="F77F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26530" y="1357018"/>
            <a:ext cx="4457065" cy="40957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 marR="93980">
              <a:lnSpc>
                <a:spcPct val="100000"/>
              </a:lnSpc>
              <a:spcBef>
                <a:spcPts val="475"/>
              </a:spcBef>
            </a:pPr>
            <a:r>
              <a:rPr dirty="0" sz="1200" spc="-10">
                <a:latin typeface="Tahoma"/>
                <a:cs typeface="Tahoma"/>
                <a:hlinkClick r:id="rId2" action="ppaction://hlinksldjump"/>
              </a:rPr>
              <a:t>Introduction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0" y="3364623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91376"/>
                </a:lnTo>
                <a:lnTo>
                  <a:pt x="1535963" y="91376"/>
                </a:lnTo>
                <a:lnTo>
                  <a:pt x="3071939" y="91376"/>
                </a:lnTo>
                <a:lnTo>
                  <a:pt x="4607928" y="91376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364623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91376"/>
                </a:lnTo>
                <a:lnTo>
                  <a:pt x="1535976" y="91376"/>
                </a:lnTo>
                <a:lnTo>
                  <a:pt x="3071952" y="91376"/>
                </a:lnTo>
                <a:lnTo>
                  <a:pt x="4607928" y="91376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3840479" cy="471805"/>
          </a:xfrm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20"/>
              </a:spcBef>
            </a:pPr>
            <a:r>
              <a:rPr dirty="0" spc="-30"/>
              <a:t>Gunshot </a:t>
            </a:r>
            <a:r>
              <a:rPr dirty="0" spc="-20"/>
              <a:t>Detection</a:t>
            </a:r>
            <a:r>
              <a:rPr dirty="0" spc="-25"/>
              <a:t> </a:t>
            </a:r>
            <a:r>
              <a:rPr dirty="0" spc="125"/>
              <a:t>—</a:t>
            </a:r>
            <a:r>
              <a:rPr dirty="0" spc="-30"/>
              <a:t> </a:t>
            </a:r>
            <a:r>
              <a:rPr dirty="0" spc="80"/>
              <a:t>A</a:t>
            </a:r>
            <a:r>
              <a:rPr dirty="0" spc="-25"/>
              <a:t> </a:t>
            </a:r>
            <a:r>
              <a:rPr dirty="0" spc="-45"/>
              <a:t>Need</a:t>
            </a:r>
            <a:r>
              <a:rPr dirty="0" spc="-25"/>
              <a:t> </a:t>
            </a:r>
            <a:r>
              <a:rPr dirty="0" spc="-10"/>
              <a:t>for</a:t>
            </a:r>
            <a:r>
              <a:rPr dirty="0" spc="-30"/>
              <a:t> </a:t>
            </a:r>
            <a:r>
              <a:rPr dirty="0" spc="-40"/>
              <a:t>Intelligent</a:t>
            </a:r>
            <a:r>
              <a:rPr dirty="0" spc="-25"/>
              <a:t> Safety </a:t>
            </a:r>
            <a:r>
              <a:rPr dirty="0" spc="-10"/>
              <a:t>Systems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1550759"/>
            <a:ext cx="59601" cy="5960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740547"/>
            <a:ext cx="59601" cy="596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930323"/>
            <a:ext cx="59601" cy="59601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13830" y="1132045"/>
            <a:ext cx="4274820" cy="1312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Public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safety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systems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increasingly</a:t>
            </a:r>
            <a:r>
              <a:rPr dirty="0" sz="1000" spc="-20">
                <a:latin typeface="Tahoma"/>
                <a:cs typeface="Tahoma"/>
              </a:rPr>
              <a:t> rely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AI-</a:t>
            </a:r>
            <a:r>
              <a:rPr dirty="0" sz="1000" spc="-30">
                <a:latin typeface="Tahoma"/>
                <a:cs typeface="Tahoma"/>
              </a:rPr>
              <a:t>driven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solutions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real-</a:t>
            </a:r>
            <a:r>
              <a:rPr dirty="0" sz="1000" spc="-20">
                <a:latin typeface="Tahoma"/>
                <a:cs typeface="Tahoma"/>
              </a:rPr>
              <a:t>time </a:t>
            </a:r>
            <a:r>
              <a:rPr dirty="0" sz="1000" spc="-10">
                <a:latin typeface="Tahoma"/>
                <a:cs typeface="Tahoma"/>
              </a:rPr>
              <a:t>threat </a:t>
            </a:r>
            <a:r>
              <a:rPr dirty="0" sz="1000" spc="-25">
                <a:latin typeface="Tahoma"/>
                <a:cs typeface="Tahoma"/>
              </a:rPr>
              <a:t>detection.</a:t>
            </a:r>
            <a:r>
              <a:rPr dirty="0" sz="1000" spc="7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Gunshot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detection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critical</a:t>
            </a:r>
            <a:r>
              <a:rPr dirty="0" sz="1000" spc="-20">
                <a:latin typeface="Tahoma"/>
                <a:cs typeface="Tahoma"/>
              </a:rPr>
              <a:t> for:</a:t>
            </a:r>
            <a:endParaRPr sz="1000">
              <a:latin typeface="Tahoma"/>
              <a:cs typeface="Tahoma"/>
            </a:endParaRPr>
          </a:p>
          <a:p>
            <a:pPr marL="265430" marR="975994">
              <a:lnSpc>
                <a:spcPts val="1490"/>
              </a:lnSpc>
              <a:spcBef>
                <a:spcPts val="100"/>
              </a:spcBef>
            </a:pPr>
            <a:r>
              <a:rPr dirty="0" sz="1000" spc="-10">
                <a:latin typeface="Tahoma"/>
                <a:cs typeface="Tahoma"/>
              </a:rPr>
              <a:t>Rapid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emergency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response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urban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public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spaces. </a:t>
            </a:r>
            <a:r>
              <a:rPr dirty="0" sz="1000" spc="-20">
                <a:latin typeface="Tahoma"/>
                <a:cs typeface="Tahoma"/>
              </a:rPr>
              <a:t>Accurate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identification</a:t>
            </a:r>
            <a:r>
              <a:rPr dirty="0" sz="1000">
                <a:latin typeface="Tahoma"/>
                <a:cs typeface="Tahoma"/>
              </a:rPr>
              <a:t> of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firearm-</a:t>
            </a:r>
            <a:r>
              <a:rPr dirty="0" sz="1000" spc="-30">
                <a:latin typeface="Tahoma"/>
                <a:cs typeface="Tahoma"/>
              </a:rPr>
              <a:t>related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acoustic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events.</a:t>
            </a:r>
            <a:endParaRPr sz="1000">
              <a:latin typeface="Tahoma"/>
              <a:cs typeface="Tahoma"/>
            </a:endParaRPr>
          </a:p>
          <a:p>
            <a:pPr marL="265430">
              <a:lnSpc>
                <a:spcPct val="100000"/>
              </a:lnSpc>
              <a:spcBef>
                <a:spcPts val="200"/>
              </a:spcBef>
            </a:pPr>
            <a:r>
              <a:rPr dirty="0" sz="1000" spc="-35">
                <a:latin typeface="Tahoma"/>
                <a:cs typeface="Tahoma"/>
              </a:rPr>
              <a:t>Integration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with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surveillance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networks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automated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alert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systems.</a:t>
            </a:r>
            <a:endParaRPr sz="1000">
              <a:latin typeface="Tahoma"/>
              <a:cs typeface="Tahoma"/>
            </a:endParaRPr>
          </a:p>
          <a:p>
            <a:pPr marL="12700" marR="277495">
              <a:lnSpc>
                <a:spcPct val="100000"/>
              </a:lnSpc>
              <a:spcBef>
                <a:spcPts val="860"/>
              </a:spcBef>
            </a:pPr>
            <a:r>
              <a:rPr dirty="0" sz="1000" spc="-35" b="1">
                <a:latin typeface="Arial"/>
                <a:cs typeface="Arial"/>
              </a:rPr>
              <a:t>Challenge:</a:t>
            </a:r>
            <a:r>
              <a:rPr dirty="0" sz="1000" spc="125" b="1">
                <a:latin typeface="Arial"/>
                <a:cs typeface="Arial"/>
              </a:rPr>
              <a:t> </a:t>
            </a:r>
            <a:r>
              <a:rPr dirty="0" sz="1000" spc="-20">
                <a:latin typeface="Tahoma"/>
                <a:cs typeface="Tahoma"/>
              </a:rPr>
              <a:t>Traditional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sound-</a:t>
            </a:r>
            <a:r>
              <a:rPr dirty="0" sz="1000" spc="-50">
                <a:latin typeface="Tahoma"/>
                <a:cs typeface="Tahoma"/>
              </a:rPr>
              <a:t>based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systems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often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fail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noisy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cluttered environments.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364623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91376"/>
                </a:lnTo>
                <a:lnTo>
                  <a:pt x="1535976" y="91376"/>
                </a:lnTo>
                <a:lnTo>
                  <a:pt x="3071952" y="91376"/>
                </a:lnTo>
                <a:lnTo>
                  <a:pt x="4607928" y="91376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dirty="0" spc="-60"/>
              <a:t> </a:t>
            </a:r>
            <a:r>
              <a:rPr dirty="0" spc="-30"/>
              <a:t>Gunshot</a:t>
            </a:r>
            <a:r>
              <a:rPr dirty="0" spc="-55"/>
              <a:t> </a:t>
            </a:r>
            <a:r>
              <a:rPr dirty="0" spc="-20"/>
              <a:t>Detection</a:t>
            </a:r>
            <a:r>
              <a:rPr dirty="0" spc="-55"/>
              <a:t> </a:t>
            </a:r>
            <a:r>
              <a:rPr dirty="0"/>
              <a:t>on</a:t>
            </a:r>
            <a:r>
              <a:rPr dirty="0" spc="-60"/>
              <a:t> </a:t>
            </a:r>
            <a:r>
              <a:rPr dirty="0" spc="-35"/>
              <a:t>Edge</a:t>
            </a:r>
            <a:r>
              <a:rPr dirty="0" spc="-55"/>
              <a:t> </a:t>
            </a:r>
            <a:r>
              <a:rPr dirty="0" spc="-25"/>
              <a:t>Devices?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1405051"/>
            <a:ext cx="59601" cy="5960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594840"/>
            <a:ext cx="59601" cy="596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784629"/>
            <a:ext cx="59601" cy="5960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1974418"/>
            <a:ext cx="59601" cy="59601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13830" y="834509"/>
            <a:ext cx="4380865" cy="1689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715">
              <a:lnSpc>
                <a:spcPct val="100000"/>
              </a:lnSpc>
              <a:spcBef>
                <a:spcPts val="95"/>
              </a:spcBef>
            </a:pPr>
            <a:r>
              <a:rPr dirty="0" sz="1000" spc="-40">
                <a:latin typeface="Tahoma"/>
                <a:cs typeface="Tahoma"/>
              </a:rPr>
              <a:t>Cloud-</a:t>
            </a:r>
            <a:r>
              <a:rPr dirty="0" sz="1000" spc="-25">
                <a:latin typeface="Tahoma"/>
                <a:cs typeface="Tahoma"/>
              </a:rPr>
              <a:t>based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gunshot</a:t>
            </a:r>
            <a:r>
              <a:rPr dirty="0" sz="1000" spc="-25">
                <a:latin typeface="Tahoma"/>
                <a:cs typeface="Tahoma"/>
              </a:rPr>
              <a:t> detection </a:t>
            </a:r>
            <a:r>
              <a:rPr dirty="0" sz="1000" spc="-45">
                <a:latin typeface="Tahoma"/>
                <a:cs typeface="Tahoma"/>
              </a:rPr>
              <a:t>systems</a:t>
            </a:r>
            <a:r>
              <a:rPr dirty="0" sz="1000" spc="-25">
                <a:latin typeface="Tahoma"/>
                <a:cs typeface="Tahoma"/>
              </a:rPr>
              <a:t> face latency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 </a:t>
            </a:r>
            <a:r>
              <a:rPr dirty="0" sz="1000" spc="-30">
                <a:latin typeface="Tahoma"/>
                <a:cs typeface="Tahoma"/>
              </a:rPr>
              <a:t>privacy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challenges.</a:t>
            </a:r>
            <a:r>
              <a:rPr dirty="0" sz="1000" spc="6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To </a:t>
            </a:r>
            <a:r>
              <a:rPr dirty="0" sz="1000" spc="-45">
                <a:latin typeface="Tahoma"/>
                <a:cs typeface="Tahoma"/>
              </a:rPr>
              <a:t>overcome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these,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lightweight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models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on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embedded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platforms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like </a:t>
            </a:r>
            <a:r>
              <a:rPr dirty="0" sz="1000" spc="-40" b="1">
                <a:latin typeface="Arial"/>
                <a:cs typeface="Arial"/>
              </a:rPr>
              <a:t>Raspberry</a:t>
            </a:r>
            <a:r>
              <a:rPr dirty="0" sz="1000" spc="6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Pi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are </a:t>
            </a:r>
            <a:r>
              <a:rPr dirty="0" sz="1000" spc="-10">
                <a:latin typeface="Tahoma"/>
                <a:cs typeface="Tahoma"/>
              </a:rPr>
              <a:t>ideal.</a:t>
            </a:r>
            <a:endParaRPr sz="1000">
              <a:latin typeface="Tahoma"/>
              <a:cs typeface="Tahoma"/>
            </a:endParaRPr>
          </a:p>
          <a:p>
            <a:pPr marL="265430" marR="1514475">
              <a:lnSpc>
                <a:spcPts val="1490"/>
              </a:lnSpc>
              <a:spcBef>
                <a:spcPts val="95"/>
              </a:spcBef>
            </a:pPr>
            <a:r>
              <a:rPr dirty="0" sz="1000" spc="-30">
                <a:latin typeface="Tahoma"/>
                <a:cs typeface="Tahoma"/>
              </a:rPr>
              <a:t>Enables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 b="1">
                <a:latin typeface="Arial"/>
                <a:cs typeface="Arial"/>
              </a:rPr>
              <a:t>real-</a:t>
            </a:r>
            <a:r>
              <a:rPr dirty="0" sz="1000" b="1">
                <a:latin typeface="Arial"/>
                <a:cs typeface="Arial"/>
              </a:rPr>
              <a:t>time</a:t>
            </a:r>
            <a:r>
              <a:rPr dirty="0" sz="1000" spc="50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inference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40">
                <a:latin typeface="Tahoma"/>
                <a:cs typeface="Tahoma"/>
              </a:rPr>
              <a:t>close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source. Reduces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dependency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high-</a:t>
            </a:r>
            <a:r>
              <a:rPr dirty="0" sz="1000" spc="-45">
                <a:latin typeface="Tahoma"/>
                <a:cs typeface="Tahoma"/>
              </a:rPr>
              <a:t>speed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internet.</a:t>
            </a:r>
            <a:endParaRPr sz="1000">
              <a:latin typeface="Tahoma"/>
              <a:cs typeface="Tahoma"/>
            </a:endParaRPr>
          </a:p>
          <a:p>
            <a:pPr marL="265430" marR="1233170">
              <a:lnSpc>
                <a:spcPts val="1490"/>
              </a:lnSpc>
              <a:spcBef>
                <a:spcPts val="5"/>
              </a:spcBef>
            </a:pPr>
            <a:r>
              <a:rPr dirty="0" sz="1000" spc="-30">
                <a:latin typeface="Tahoma"/>
                <a:cs typeface="Tahoma"/>
              </a:rPr>
              <a:t>Supports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40" b="1">
                <a:latin typeface="Arial"/>
                <a:cs typeface="Arial"/>
              </a:rPr>
              <a:t>scalable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and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50" b="1">
                <a:latin typeface="Arial"/>
                <a:cs typeface="Arial"/>
              </a:rPr>
              <a:t>low-</a:t>
            </a:r>
            <a:r>
              <a:rPr dirty="0" sz="1000" spc="-30" b="1">
                <a:latin typeface="Arial"/>
                <a:cs typeface="Arial"/>
              </a:rPr>
              <a:t>power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deployment</a:t>
            </a:r>
            <a:r>
              <a:rPr dirty="0" sz="1000" spc="-10">
                <a:latin typeface="Tahoma"/>
                <a:cs typeface="Tahoma"/>
              </a:rPr>
              <a:t>. </a:t>
            </a:r>
            <a:r>
              <a:rPr dirty="0" sz="1000" spc="-40">
                <a:latin typeface="Tahoma"/>
                <a:cs typeface="Tahoma"/>
              </a:rPr>
              <a:t>Enhances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community</a:t>
            </a:r>
            <a:r>
              <a:rPr dirty="0" sz="1000" spc="-35">
                <a:latin typeface="Tahoma"/>
                <a:cs typeface="Tahoma"/>
              </a:rPr>
              <a:t> safety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through </a:t>
            </a:r>
            <a:r>
              <a:rPr dirty="0" sz="1000" spc="-10">
                <a:latin typeface="Tahoma"/>
                <a:cs typeface="Tahoma"/>
              </a:rPr>
              <a:t>rapid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local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alerts.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1055"/>
              </a:spcBef>
            </a:pPr>
            <a:r>
              <a:rPr dirty="0" sz="1000" spc="-20" b="1">
                <a:latin typeface="Arial"/>
                <a:cs typeface="Arial"/>
              </a:rPr>
              <a:t>Goal:</a:t>
            </a:r>
            <a:r>
              <a:rPr dirty="0" sz="1000" spc="100" b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Design </a:t>
            </a:r>
            <a:r>
              <a:rPr dirty="0" sz="1000" spc="-10">
                <a:latin typeface="Tahoma"/>
                <a:cs typeface="Tahoma"/>
              </a:rPr>
              <a:t>an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efficient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and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accurate </a:t>
            </a:r>
            <a:r>
              <a:rPr dirty="0" sz="1000" spc="-50">
                <a:latin typeface="Tahoma"/>
                <a:cs typeface="Tahoma"/>
              </a:rPr>
              <a:t>AI-</a:t>
            </a:r>
            <a:r>
              <a:rPr dirty="0" sz="1000" spc="-45">
                <a:latin typeface="Tahoma"/>
                <a:cs typeface="Tahoma"/>
              </a:rPr>
              <a:t>based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gunshot</a:t>
            </a:r>
            <a:r>
              <a:rPr dirty="0" sz="1000" spc="-30">
                <a:latin typeface="Tahoma"/>
                <a:cs typeface="Tahoma"/>
              </a:rPr>
              <a:t> detection model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edge </a:t>
            </a:r>
            <a:r>
              <a:rPr dirty="0" sz="1000" spc="-10">
                <a:latin typeface="Tahoma"/>
                <a:cs typeface="Tahoma"/>
              </a:rPr>
              <a:t>deployment.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729" y="1280642"/>
            <a:ext cx="4507865" cy="502920"/>
            <a:chOff x="75729" y="1280642"/>
            <a:chExt cx="4507865" cy="502920"/>
          </a:xfrm>
        </p:grpSpPr>
        <p:sp>
          <p:nvSpPr>
            <p:cNvPr id="3" name="object 3" descr=""/>
            <p:cNvSpPr/>
            <p:nvPr/>
          </p:nvSpPr>
          <p:spPr>
            <a:xfrm>
              <a:off x="75729" y="1280642"/>
              <a:ext cx="4457065" cy="82550"/>
            </a:xfrm>
            <a:custGeom>
              <a:avLst/>
              <a:gdLst/>
              <a:ahLst/>
              <a:cxnLst/>
              <a:rect l="l" t="t" r="r" b="b"/>
              <a:pathLst>
                <a:path w="4457065" h="82550">
                  <a:moveTo>
                    <a:pt x="440580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56606" y="82384"/>
                  </a:lnTo>
                  <a:lnTo>
                    <a:pt x="4456606" y="50800"/>
                  </a:lnTo>
                  <a:lnTo>
                    <a:pt x="4452598" y="31075"/>
                  </a:lnTo>
                  <a:lnTo>
                    <a:pt x="4441684" y="14922"/>
                  </a:lnTo>
                  <a:lnTo>
                    <a:pt x="4425531" y="4008"/>
                  </a:lnTo>
                  <a:lnTo>
                    <a:pt x="4405806" y="0"/>
                  </a:lnTo>
                  <a:close/>
                </a:path>
              </a:pathLst>
            </a:custGeom>
            <a:solidFill>
              <a:srgbClr val="F77F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6530" y="1343903"/>
              <a:ext cx="4457065" cy="439420"/>
            </a:xfrm>
            <a:custGeom>
              <a:avLst/>
              <a:gdLst/>
              <a:ahLst/>
              <a:cxnLst/>
              <a:rect l="l" t="t" r="r" b="b"/>
              <a:pathLst>
                <a:path w="4457065" h="439419">
                  <a:moveTo>
                    <a:pt x="4456607" y="0"/>
                  </a:moveTo>
                  <a:lnTo>
                    <a:pt x="0" y="0"/>
                  </a:lnTo>
                  <a:lnTo>
                    <a:pt x="0" y="439101"/>
                  </a:lnTo>
                  <a:lnTo>
                    <a:pt x="4456607" y="439101"/>
                  </a:lnTo>
                  <a:lnTo>
                    <a:pt x="44566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5729" y="1325066"/>
              <a:ext cx="4457065" cy="407670"/>
            </a:xfrm>
            <a:custGeom>
              <a:avLst/>
              <a:gdLst/>
              <a:ahLst/>
              <a:cxnLst/>
              <a:rect l="l" t="t" r="r" b="b"/>
              <a:pathLst>
                <a:path w="4457065" h="407669">
                  <a:moveTo>
                    <a:pt x="4456606" y="0"/>
                  </a:moveTo>
                  <a:lnTo>
                    <a:pt x="0" y="0"/>
                  </a:lnTo>
                  <a:lnTo>
                    <a:pt x="0" y="356336"/>
                  </a:lnTo>
                  <a:lnTo>
                    <a:pt x="4008" y="376061"/>
                  </a:lnTo>
                  <a:lnTo>
                    <a:pt x="14922" y="392214"/>
                  </a:lnTo>
                  <a:lnTo>
                    <a:pt x="31075" y="403128"/>
                  </a:lnTo>
                  <a:lnTo>
                    <a:pt x="50800" y="407137"/>
                  </a:lnTo>
                  <a:lnTo>
                    <a:pt x="4405806" y="407137"/>
                  </a:lnTo>
                  <a:lnTo>
                    <a:pt x="4425531" y="403128"/>
                  </a:lnTo>
                  <a:lnTo>
                    <a:pt x="4441684" y="392214"/>
                  </a:lnTo>
                  <a:lnTo>
                    <a:pt x="4452598" y="376061"/>
                  </a:lnTo>
                  <a:lnTo>
                    <a:pt x="4456606" y="356336"/>
                  </a:lnTo>
                  <a:lnTo>
                    <a:pt x="4456606" y="0"/>
                  </a:lnTo>
                  <a:close/>
                </a:path>
              </a:pathLst>
            </a:custGeom>
            <a:solidFill>
              <a:srgbClr val="F77F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26530" y="1343903"/>
            <a:ext cx="4457065" cy="43942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 marR="93980">
              <a:lnSpc>
                <a:spcPct val="100000"/>
              </a:lnSpc>
              <a:spcBef>
                <a:spcPts val="475"/>
              </a:spcBef>
            </a:pPr>
            <a:r>
              <a:rPr dirty="0" sz="1200" spc="-45">
                <a:latin typeface="Tahoma"/>
                <a:cs typeface="Tahoma"/>
                <a:hlinkClick r:id="rId2" action="ppaction://hlinksldjump"/>
              </a:rPr>
              <a:t>Base </a:t>
            </a:r>
            <a:r>
              <a:rPr dirty="0" sz="1200" spc="-30">
                <a:latin typeface="Tahoma"/>
                <a:cs typeface="Tahoma"/>
                <a:hlinkClick r:id="rId2" action="ppaction://hlinksldjump"/>
              </a:rPr>
              <a:t>Paper</a:t>
            </a:r>
            <a:r>
              <a:rPr dirty="0" sz="1200" spc="-40"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1200" spc="-10">
                <a:latin typeface="Tahoma"/>
                <a:cs typeface="Tahoma"/>
                <a:hlinkClick r:id="rId2" action="ppaction://hlinksldjump"/>
              </a:rPr>
              <a:t>Overview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0" y="3364636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91363"/>
                </a:lnTo>
                <a:lnTo>
                  <a:pt x="1535963" y="91363"/>
                </a:lnTo>
                <a:lnTo>
                  <a:pt x="3071939" y="91363"/>
                </a:lnTo>
                <a:lnTo>
                  <a:pt x="4607928" y="91363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364623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91376"/>
                </a:lnTo>
                <a:lnTo>
                  <a:pt x="1535976" y="91376"/>
                </a:lnTo>
                <a:lnTo>
                  <a:pt x="3071952" y="91376"/>
                </a:lnTo>
                <a:lnTo>
                  <a:pt x="4607928" y="91376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77876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5"/>
              <a:t>Real-</a:t>
            </a:r>
            <a:r>
              <a:rPr dirty="0" spc="-10"/>
              <a:t>time</a:t>
            </a:r>
            <a:r>
              <a:rPr dirty="0" spc="-50"/>
              <a:t> </a:t>
            </a:r>
            <a:r>
              <a:rPr dirty="0" spc="-30"/>
              <a:t>Gunshot</a:t>
            </a:r>
            <a:r>
              <a:rPr dirty="0" spc="-50"/>
              <a:t> </a:t>
            </a:r>
            <a:r>
              <a:rPr dirty="0" spc="-20"/>
              <a:t>Detection</a:t>
            </a:r>
            <a:r>
              <a:rPr dirty="0" spc="-50"/>
              <a:t> </a:t>
            </a:r>
            <a:r>
              <a:rPr dirty="0" spc="-25"/>
              <a:t>System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1736725"/>
            <a:ext cx="59601" cy="5960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926513"/>
            <a:ext cx="59601" cy="596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2116302"/>
            <a:ext cx="59601" cy="59601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13830" y="1014354"/>
            <a:ext cx="4380230" cy="12026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base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paper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proposes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real-</a:t>
            </a:r>
            <a:r>
              <a:rPr dirty="0" sz="1000" spc="-20">
                <a:latin typeface="Tahoma"/>
                <a:cs typeface="Tahoma"/>
              </a:rPr>
              <a:t>time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gunshot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detection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system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for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enhanced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public </a:t>
            </a:r>
            <a:r>
              <a:rPr dirty="0" sz="1000" spc="-40">
                <a:latin typeface="Tahoma"/>
                <a:cs typeface="Tahoma"/>
              </a:rPr>
              <a:t>safety.</a:t>
            </a:r>
            <a:r>
              <a:rPr dirty="0" sz="1000" spc="10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It </a:t>
            </a:r>
            <a:r>
              <a:rPr dirty="0" sz="1000" spc="-40">
                <a:latin typeface="Tahoma"/>
                <a:cs typeface="Tahoma"/>
              </a:rPr>
              <a:t>captures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environmental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audio,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extracts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features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(MFCC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YAMNet),</a:t>
            </a:r>
            <a:r>
              <a:rPr dirty="0" sz="1000" spc="50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65">
                <a:latin typeface="Tahoma"/>
                <a:cs typeface="Tahoma"/>
              </a:rPr>
              <a:t>uses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neural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network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models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 </a:t>
            </a:r>
            <a:r>
              <a:rPr dirty="0" sz="1000" spc="-35">
                <a:latin typeface="Tahoma"/>
                <a:cs typeface="Tahoma"/>
              </a:rPr>
              <a:t>accurate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gunshot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classification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suitable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for </a:t>
            </a:r>
            <a:r>
              <a:rPr dirty="0" sz="1000" spc="-60">
                <a:latin typeface="Tahoma"/>
                <a:cs typeface="Tahoma"/>
              </a:rPr>
              <a:t>edge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devices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like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Raspberry</a:t>
            </a:r>
            <a:r>
              <a:rPr dirty="0" sz="1000" spc="-25">
                <a:latin typeface="Tahoma"/>
                <a:cs typeface="Tahoma"/>
              </a:rPr>
              <a:t> Pi.</a:t>
            </a:r>
            <a:endParaRPr sz="1000">
              <a:latin typeface="Tahoma"/>
              <a:cs typeface="Tahoma"/>
            </a:endParaRPr>
          </a:p>
          <a:p>
            <a:pPr marL="265430">
              <a:lnSpc>
                <a:spcPct val="100000"/>
              </a:lnSpc>
              <a:spcBef>
                <a:spcPts val="280"/>
              </a:spcBef>
            </a:pPr>
            <a:r>
              <a:rPr dirty="0" sz="1000">
                <a:latin typeface="Tahoma"/>
                <a:cs typeface="Tahoma"/>
              </a:rPr>
              <a:t>Audio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capture and </a:t>
            </a:r>
            <a:r>
              <a:rPr dirty="0" sz="1000" spc="-35">
                <a:latin typeface="Tahoma"/>
                <a:cs typeface="Tahoma"/>
              </a:rPr>
              <a:t>feature </a:t>
            </a:r>
            <a:r>
              <a:rPr dirty="0" sz="1000" spc="-10">
                <a:latin typeface="Tahoma"/>
                <a:cs typeface="Tahoma"/>
              </a:rPr>
              <a:t>extraction</a:t>
            </a:r>
            <a:endParaRPr sz="1000">
              <a:latin typeface="Tahoma"/>
              <a:cs typeface="Tahoma"/>
            </a:endParaRPr>
          </a:p>
          <a:p>
            <a:pPr marL="265430" marR="1226820">
              <a:lnSpc>
                <a:spcPct val="124500"/>
              </a:lnSpc>
            </a:pPr>
            <a:r>
              <a:rPr dirty="0" sz="1000" spc="-30">
                <a:latin typeface="Tahoma"/>
                <a:cs typeface="Tahoma"/>
              </a:rPr>
              <a:t>ML-</a:t>
            </a:r>
            <a:r>
              <a:rPr dirty="0" sz="1000" spc="-10">
                <a:latin typeface="Tahoma"/>
                <a:cs typeface="Tahoma"/>
              </a:rPr>
              <a:t>based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gunshot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classification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(up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85">
                <a:latin typeface="Tahoma"/>
                <a:cs typeface="Tahoma"/>
              </a:rPr>
              <a:t>96%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accuracy) </a:t>
            </a:r>
            <a:r>
              <a:rPr dirty="0" sz="1000" spc="-10">
                <a:latin typeface="Tahoma"/>
                <a:cs typeface="Tahoma"/>
              </a:rPr>
              <a:t>Optimized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real-</a:t>
            </a:r>
            <a:r>
              <a:rPr dirty="0" sz="1000" spc="-20">
                <a:latin typeface="Tahoma"/>
                <a:cs typeface="Tahoma"/>
              </a:rPr>
              <a:t>time, </a:t>
            </a:r>
            <a:r>
              <a:rPr dirty="0" sz="1000" spc="-45">
                <a:latin typeface="Tahoma"/>
                <a:cs typeface="Tahoma"/>
              </a:rPr>
              <a:t>low-</a:t>
            </a:r>
            <a:r>
              <a:rPr dirty="0" sz="1000" spc="-55">
                <a:latin typeface="Tahoma"/>
                <a:cs typeface="Tahoma"/>
              </a:rPr>
              <a:t>power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hardware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364623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91376"/>
                </a:lnTo>
                <a:lnTo>
                  <a:pt x="1535976" y="91376"/>
                </a:lnTo>
                <a:lnTo>
                  <a:pt x="3071952" y="91376"/>
                </a:lnTo>
                <a:lnTo>
                  <a:pt x="4607928" y="91376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172593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Analysis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Base</a:t>
            </a:r>
            <a:r>
              <a:rPr dirty="0" spc="-65"/>
              <a:t> </a:t>
            </a:r>
            <a:r>
              <a:rPr dirty="0" spc="-10"/>
              <a:t>Paper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1218958"/>
            <a:ext cx="59601" cy="5960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347" y="1395019"/>
            <a:ext cx="48018" cy="4801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1347" y="1534198"/>
            <a:ext cx="48018" cy="48018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1699755"/>
            <a:ext cx="59601" cy="5960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1347" y="1875815"/>
            <a:ext cx="48018" cy="4801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1347" y="2014994"/>
            <a:ext cx="48018" cy="48018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1347" y="2154174"/>
            <a:ext cx="48018" cy="48018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1347" y="2432532"/>
            <a:ext cx="48018" cy="48018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13830" y="812893"/>
            <a:ext cx="4380865" cy="17062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165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base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paper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made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significant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contributions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real-</a:t>
            </a:r>
            <a:r>
              <a:rPr dirty="0" sz="1000" spc="-20">
                <a:latin typeface="Tahoma"/>
                <a:cs typeface="Tahoma"/>
              </a:rPr>
              <a:t>time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gunshot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detection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but also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had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limitations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that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inspired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our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enhancements:</a:t>
            </a:r>
            <a:endParaRPr sz="1000">
              <a:latin typeface="Tahoma"/>
              <a:cs typeface="Tahoma"/>
            </a:endParaRPr>
          </a:p>
          <a:p>
            <a:pPr marL="265430">
              <a:lnSpc>
                <a:spcPct val="100000"/>
              </a:lnSpc>
              <a:spcBef>
                <a:spcPts val="190"/>
              </a:spcBef>
            </a:pPr>
            <a:r>
              <a:rPr dirty="0" sz="1000" spc="-10" b="1">
                <a:latin typeface="Arial"/>
                <a:cs typeface="Arial"/>
              </a:rPr>
              <a:t>Contributions:</a:t>
            </a:r>
            <a:endParaRPr sz="1000">
              <a:latin typeface="Arial"/>
              <a:cs typeface="Arial"/>
            </a:endParaRPr>
          </a:p>
          <a:p>
            <a:pPr marL="518795" marR="178435">
              <a:lnSpc>
                <a:spcPct val="101499"/>
              </a:lnSpc>
              <a:spcBef>
                <a:spcPts val="180"/>
              </a:spcBef>
            </a:pPr>
            <a:r>
              <a:rPr dirty="0" sz="900">
                <a:latin typeface="Tahoma"/>
                <a:cs typeface="Tahoma"/>
              </a:rPr>
              <a:t>Evaluation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of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multiple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35">
                <a:latin typeface="Tahoma"/>
                <a:cs typeface="Tahoma"/>
              </a:rPr>
              <a:t>hardware </a:t>
            </a:r>
            <a:r>
              <a:rPr dirty="0" sz="900" spc="-10">
                <a:latin typeface="Tahoma"/>
                <a:cs typeface="Tahoma"/>
              </a:rPr>
              <a:t>platforms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for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real-</a:t>
            </a:r>
            <a:r>
              <a:rPr dirty="0" sz="900">
                <a:latin typeface="Tahoma"/>
                <a:cs typeface="Tahoma"/>
              </a:rPr>
              <a:t>time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inference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feasibility. </a:t>
            </a:r>
            <a:r>
              <a:rPr dirty="0" sz="900" spc="-10">
                <a:latin typeface="Tahoma"/>
                <a:cs typeface="Tahoma"/>
              </a:rPr>
              <a:t>Consideration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of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noisy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environments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and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confounding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audio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events.</a:t>
            </a:r>
            <a:endParaRPr sz="900">
              <a:latin typeface="Tahoma"/>
              <a:cs typeface="Tahoma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dirty="0" sz="1000" spc="-10" b="1">
                <a:latin typeface="Arial"/>
                <a:cs typeface="Arial"/>
              </a:rPr>
              <a:t>Limitations:</a:t>
            </a:r>
            <a:endParaRPr sz="1000">
              <a:latin typeface="Arial"/>
              <a:cs typeface="Arial"/>
            </a:endParaRPr>
          </a:p>
          <a:p>
            <a:pPr marL="518795">
              <a:lnSpc>
                <a:spcPct val="100000"/>
              </a:lnSpc>
              <a:spcBef>
                <a:spcPts val="195"/>
              </a:spcBef>
            </a:pPr>
            <a:r>
              <a:rPr dirty="0" sz="900" spc="-30">
                <a:latin typeface="Tahoma"/>
                <a:cs typeface="Tahoma"/>
              </a:rPr>
              <a:t>Hardware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optimization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and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low-</a:t>
            </a:r>
            <a:r>
              <a:rPr dirty="0" sz="900" spc="-10">
                <a:latin typeface="Tahoma"/>
                <a:cs typeface="Tahoma"/>
              </a:rPr>
              <a:t>latency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inference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45">
                <a:latin typeface="Tahoma"/>
                <a:cs typeface="Tahoma"/>
              </a:rPr>
              <a:t>were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limited.</a:t>
            </a:r>
            <a:endParaRPr sz="900">
              <a:latin typeface="Tahoma"/>
              <a:cs typeface="Tahoma"/>
            </a:endParaRPr>
          </a:p>
          <a:p>
            <a:pPr marL="518795" marR="5080">
              <a:lnSpc>
                <a:spcPct val="101499"/>
              </a:lnSpc>
            </a:pPr>
            <a:r>
              <a:rPr dirty="0" sz="900">
                <a:latin typeface="Tahoma"/>
                <a:cs typeface="Tahoma"/>
              </a:rPr>
              <a:t>Model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compression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techniques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like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pruning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or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quantization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45">
                <a:latin typeface="Tahoma"/>
                <a:cs typeface="Tahoma"/>
              </a:rPr>
              <a:t>were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not</a:t>
            </a:r>
            <a:r>
              <a:rPr dirty="0" sz="900" spc="-10">
                <a:latin typeface="Tahoma"/>
                <a:cs typeface="Tahoma"/>
              </a:rPr>
              <a:t> explored. Lightweight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35">
                <a:latin typeface="Tahoma"/>
                <a:cs typeface="Tahoma"/>
              </a:rPr>
              <a:t>embedding-</a:t>
            </a:r>
            <a:r>
              <a:rPr dirty="0" sz="900">
                <a:latin typeface="Tahoma"/>
                <a:cs typeface="Tahoma"/>
              </a:rPr>
              <a:t>only </a:t>
            </a:r>
            <a:r>
              <a:rPr dirty="0" sz="900" spc="-25">
                <a:latin typeface="Tahoma"/>
                <a:cs typeface="Tahoma"/>
              </a:rPr>
              <a:t>inference</a:t>
            </a:r>
            <a:r>
              <a:rPr dirty="0" sz="900">
                <a:latin typeface="Tahoma"/>
                <a:cs typeface="Tahoma"/>
              </a:rPr>
              <a:t> for </a:t>
            </a:r>
            <a:r>
              <a:rPr dirty="0" sz="900" spc="-30">
                <a:latin typeface="Tahoma"/>
                <a:cs typeface="Tahoma"/>
              </a:rPr>
              <a:t>resource-constrained</a:t>
            </a:r>
            <a:r>
              <a:rPr dirty="0" sz="90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devices</a:t>
            </a:r>
            <a:r>
              <a:rPr dirty="0" sz="900">
                <a:latin typeface="Tahoma"/>
                <a:cs typeface="Tahoma"/>
              </a:rPr>
              <a:t> </a:t>
            </a:r>
            <a:r>
              <a:rPr dirty="0" sz="900" spc="-35">
                <a:latin typeface="Tahoma"/>
                <a:cs typeface="Tahoma"/>
              </a:rPr>
              <a:t>was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not </a:t>
            </a:r>
            <a:r>
              <a:rPr dirty="0" sz="900" spc="-10">
                <a:latin typeface="Tahoma"/>
                <a:cs typeface="Tahoma"/>
              </a:rPr>
              <a:t>implemented.</a:t>
            </a:r>
            <a:endParaRPr sz="900">
              <a:latin typeface="Tahoma"/>
              <a:cs typeface="Tahoma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dirty="0" sz="900">
                <a:latin typeface="Tahoma"/>
                <a:cs typeface="Tahoma"/>
              </a:rPr>
              <a:t>Model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was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trained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on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small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dataset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only</a:t>
            </a:r>
            <a:r>
              <a:rPr dirty="0" sz="900" spc="-20">
                <a:latin typeface="Tahoma"/>
                <a:cs typeface="Tahoma"/>
              </a:rPr>
              <a:t> leading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overfitttig.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364623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91376"/>
                </a:lnTo>
                <a:lnTo>
                  <a:pt x="1535976" y="91376"/>
                </a:lnTo>
                <a:lnTo>
                  <a:pt x="3071952" y="91376"/>
                </a:lnTo>
                <a:lnTo>
                  <a:pt x="4607928" y="91376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74828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Gunshot</a:t>
            </a:r>
            <a:r>
              <a:rPr dirty="0" spc="-55"/>
              <a:t> </a:t>
            </a:r>
            <a:r>
              <a:rPr dirty="0" spc="-20"/>
              <a:t>Detection</a:t>
            </a:r>
            <a:r>
              <a:rPr dirty="0" spc="-55"/>
              <a:t> </a:t>
            </a:r>
            <a:r>
              <a:rPr dirty="0" spc="-35"/>
              <a:t>System</a:t>
            </a:r>
            <a:r>
              <a:rPr dirty="0" spc="-55"/>
              <a:t> </a:t>
            </a:r>
            <a:r>
              <a:rPr dirty="0" spc="-35"/>
              <a:t>Overview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1508975"/>
            <a:ext cx="59601" cy="5960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850593"/>
            <a:ext cx="59601" cy="59601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13830" y="1090262"/>
            <a:ext cx="4298315" cy="1012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paper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presents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real-</a:t>
            </a:r>
            <a:r>
              <a:rPr dirty="0" sz="1000" spc="-20">
                <a:latin typeface="Tahoma"/>
                <a:cs typeface="Tahoma"/>
              </a:rPr>
              <a:t>time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gunshot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detection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system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integrated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with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camera </a:t>
            </a:r>
            <a:r>
              <a:rPr dirty="0" sz="1000" spc="-35">
                <a:latin typeface="Tahoma"/>
                <a:cs typeface="Tahoma"/>
              </a:rPr>
              <a:t>surveillance.</a:t>
            </a:r>
            <a:r>
              <a:rPr dirty="0" sz="1000" spc="7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Audio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data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pre-</a:t>
            </a:r>
            <a:r>
              <a:rPr dirty="0" sz="1000" spc="-50">
                <a:latin typeface="Tahoma"/>
                <a:cs typeface="Tahoma"/>
              </a:rPr>
              <a:t>processed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improve</a:t>
            </a:r>
            <a:r>
              <a:rPr dirty="0" sz="1000" spc="-25">
                <a:latin typeface="Tahoma"/>
                <a:cs typeface="Tahoma"/>
              </a:rPr>
              <a:t> model </a:t>
            </a:r>
            <a:r>
              <a:rPr dirty="0" sz="1000" spc="-10">
                <a:latin typeface="Tahoma"/>
                <a:cs typeface="Tahoma"/>
              </a:rPr>
              <a:t>accuracy.</a:t>
            </a:r>
            <a:endParaRPr sz="1000">
              <a:latin typeface="Tahoma"/>
              <a:cs typeface="Tahoma"/>
            </a:endParaRPr>
          </a:p>
          <a:p>
            <a:pPr marL="265430" marR="29209">
              <a:lnSpc>
                <a:spcPct val="100000"/>
              </a:lnSpc>
              <a:spcBef>
                <a:spcPts val="290"/>
              </a:spcBef>
            </a:pPr>
            <a:r>
              <a:rPr dirty="0" sz="1000" spc="-30">
                <a:latin typeface="Tahoma"/>
                <a:cs typeface="Tahoma"/>
              </a:rPr>
              <a:t>Gunshot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sounds</a:t>
            </a:r>
            <a:r>
              <a:rPr dirty="0" sz="1000" spc="-10">
                <a:latin typeface="Tahoma"/>
                <a:cs typeface="Tahoma"/>
              </a:rPr>
              <a:t> from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various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firearms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(AK-47,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MP5,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M16,</a:t>
            </a:r>
            <a:r>
              <a:rPr dirty="0" sz="1000" spc="-10">
                <a:latin typeface="Tahoma"/>
                <a:cs typeface="Tahoma"/>
              </a:rPr>
              <a:t> etc.), </a:t>
            </a:r>
            <a:r>
              <a:rPr dirty="0" sz="1000" spc="-40">
                <a:latin typeface="Tahoma"/>
                <a:cs typeface="Tahoma"/>
              </a:rPr>
              <a:t>resampled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1-</a:t>
            </a:r>
            <a:r>
              <a:rPr dirty="0" sz="1000" spc="-30">
                <a:latin typeface="Tahoma"/>
                <a:cs typeface="Tahoma"/>
              </a:rPr>
              <a:t>sec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22050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Hz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filtered</a:t>
            </a:r>
            <a:r>
              <a:rPr dirty="0" sz="1000" spc="-10">
                <a:latin typeface="Tahoma"/>
                <a:cs typeface="Tahoma"/>
              </a:rPr>
              <a:t> for </a:t>
            </a:r>
            <a:r>
              <a:rPr dirty="0" sz="1000" spc="-55">
                <a:latin typeface="Tahoma"/>
                <a:cs typeface="Tahoma"/>
              </a:rPr>
              <a:t>low-energy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noise,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yielding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3210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samples.</a:t>
            </a:r>
            <a:endParaRPr sz="1000">
              <a:latin typeface="Tahoma"/>
              <a:cs typeface="Tahoma"/>
            </a:endParaRPr>
          </a:p>
          <a:p>
            <a:pPr marL="265430" marR="231140">
              <a:lnSpc>
                <a:spcPct val="100000"/>
              </a:lnSpc>
              <a:spcBef>
                <a:spcPts val="290"/>
              </a:spcBef>
            </a:pPr>
            <a:r>
              <a:rPr dirty="0" sz="1000" spc="-45">
                <a:latin typeface="Tahoma"/>
                <a:cs typeface="Tahoma"/>
              </a:rPr>
              <a:t>Non-</a:t>
            </a:r>
            <a:r>
              <a:rPr dirty="0" sz="1000" spc="-30">
                <a:latin typeface="Tahoma"/>
                <a:cs typeface="Tahoma"/>
              </a:rPr>
              <a:t>gunshot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sounds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(thunder,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fireworks,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drums,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doors,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clapping,</a:t>
            </a:r>
            <a:r>
              <a:rPr dirty="0" sz="1000" spc="-10">
                <a:latin typeface="Tahoma"/>
                <a:cs typeface="Tahoma"/>
              </a:rPr>
              <a:t> barks) </a:t>
            </a:r>
            <a:r>
              <a:rPr dirty="0" sz="1000" spc="-25">
                <a:latin typeface="Tahoma"/>
                <a:cs typeface="Tahoma"/>
              </a:rPr>
              <a:t>collected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from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YouTube,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totaling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7758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samples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after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preprocessing.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364623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91376"/>
                </a:lnTo>
                <a:lnTo>
                  <a:pt x="1535976" y="91376"/>
                </a:lnTo>
                <a:lnTo>
                  <a:pt x="3071952" y="91376"/>
                </a:lnTo>
                <a:lnTo>
                  <a:pt x="4607928" y="91376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Modeling</a:t>
            </a:r>
            <a:r>
              <a:rPr dirty="0" spc="-80"/>
              <a:t> </a:t>
            </a:r>
            <a:r>
              <a:rPr dirty="0" spc="-50"/>
              <a:t>Approaches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13830" y="873625"/>
            <a:ext cx="28663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Two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60">
                <a:latin typeface="Tahoma"/>
                <a:cs typeface="Tahoma"/>
              </a:rPr>
              <a:t>ML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approaches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65">
                <a:latin typeface="Tahoma"/>
                <a:cs typeface="Tahoma"/>
              </a:rPr>
              <a:t>were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used</a:t>
            </a:r>
            <a:r>
              <a:rPr dirty="0" sz="1000" spc="-10">
                <a:latin typeface="Tahoma"/>
                <a:cs typeface="Tahoma"/>
              </a:rPr>
              <a:t> for </a:t>
            </a:r>
            <a:r>
              <a:rPr dirty="0" sz="1000" spc="-35">
                <a:latin typeface="Tahoma"/>
                <a:cs typeface="Tahoma"/>
              </a:rPr>
              <a:t>gunshot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detection: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924" y="1101296"/>
            <a:ext cx="104301" cy="104301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30581" y="1091904"/>
            <a:ext cx="5905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5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347" y="1303921"/>
            <a:ext cx="48018" cy="48018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1347" y="1443101"/>
            <a:ext cx="48018" cy="4801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1347" y="1582280"/>
            <a:ext cx="48018" cy="48018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1347" y="1721459"/>
            <a:ext cx="48018" cy="48018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7924" y="1860438"/>
            <a:ext cx="104301" cy="104301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30581" y="1851059"/>
            <a:ext cx="5905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5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500">
              <a:latin typeface="Arial MT"/>
              <a:cs typeface="Arial MT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1347" y="2063076"/>
            <a:ext cx="48018" cy="48018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1347" y="2202256"/>
            <a:ext cx="48018" cy="48018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21347" y="2341435"/>
            <a:ext cx="48018" cy="48018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366877" y="1022655"/>
            <a:ext cx="4038600" cy="140525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000" b="1">
                <a:latin typeface="Arial"/>
                <a:cs typeface="Arial"/>
              </a:rPr>
              <a:t>YAMNet</a:t>
            </a:r>
            <a:r>
              <a:rPr dirty="0" sz="1000" spc="140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Transfer</a:t>
            </a:r>
            <a:r>
              <a:rPr dirty="0" sz="1000" spc="14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Learning:</a:t>
            </a:r>
            <a:endParaRPr sz="10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195"/>
              </a:spcBef>
            </a:pPr>
            <a:r>
              <a:rPr dirty="0" sz="900" spc="-30">
                <a:latin typeface="Tahoma"/>
                <a:cs typeface="Tahoma"/>
              </a:rPr>
              <a:t>1024-</a:t>
            </a:r>
            <a:r>
              <a:rPr dirty="0" sz="900">
                <a:latin typeface="Tahoma"/>
                <a:cs typeface="Tahoma"/>
              </a:rPr>
              <a:t>dim</a:t>
            </a:r>
            <a:r>
              <a:rPr dirty="0" sz="900" spc="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YAMNet</a:t>
            </a:r>
            <a:r>
              <a:rPr dirty="0" sz="900" spc="50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embeddings</a:t>
            </a:r>
            <a:r>
              <a:rPr dirty="0" sz="900" spc="5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as</a:t>
            </a:r>
            <a:r>
              <a:rPr dirty="0" sz="900" spc="5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input.</a:t>
            </a:r>
            <a:endParaRPr sz="900">
              <a:latin typeface="Tahoma"/>
              <a:cs typeface="Tahoma"/>
            </a:endParaRPr>
          </a:p>
          <a:p>
            <a:pPr marL="265430" marR="1259840">
              <a:lnSpc>
                <a:spcPct val="101499"/>
              </a:lnSpc>
            </a:pPr>
            <a:r>
              <a:rPr dirty="0" sz="900" spc="-20">
                <a:latin typeface="Tahoma"/>
                <a:cs typeface="Tahoma"/>
              </a:rPr>
              <a:t>Three-</a:t>
            </a:r>
            <a:r>
              <a:rPr dirty="0" sz="900" spc="-25">
                <a:latin typeface="Tahoma"/>
                <a:cs typeface="Tahoma"/>
              </a:rPr>
              <a:t>layer</a:t>
            </a:r>
            <a:r>
              <a:rPr dirty="0" sz="90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network</a:t>
            </a:r>
            <a:r>
              <a:rPr dirty="0" sz="90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(512-</a:t>
            </a:r>
            <a:r>
              <a:rPr dirty="0" sz="900">
                <a:latin typeface="Tahoma"/>
                <a:cs typeface="Tahoma"/>
              </a:rPr>
              <a:t>unit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 spc="-35">
                <a:latin typeface="Tahoma"/>
                <a:cs typeface="Tahoma"/>
              </a:rPr>
              <a:t>dense</a:t>
            </a:r>
            <a:r>
              <a:rPr dirty="0" sz="900">
                <a:latin typeface="Tahoma"/>
                <a:cs typeface="Tahoma"/>
              </a:rPr>
              <a:t> </a:t>
            </a:r>
            <a:r>
              <a:rPr dirty="0" sz="900" spc="65">
                <a:latin typeface="Tahoma"/>
                <a:cs typeface="Tahoma"/>
              </a:rPr>
              <a:t>+</a:t>
            </a:r>
            <a:r>
              <a:rPr dirty="0" sz="90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2-</a:t>
            </a:r>
            <a:r>
              <a:rPr dirty="0" sz="900" spc="-10">
                <a:latin typeface="Tahoma"/>
                <a:cs typeface="Tahoma"/>
              </a:rPr>
              <a:t>output). </a:t>
            </a:r>
            <a:r>
              <a:rPr dirty="0" sz="900">
                <a:latin typeface="Tahoma"/>
                <a:cs typeface="Tahoma"/>
              </a:rPr>
              <a:t>60/20/20</a:t>
            </a:r>
            <a:r>
              <a:rPr dirty="0" sz="900" spc="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train/val/test</a:t>
            </a:r>
            <a:r>
              <a:rPr dirty="0" sz="900" spc="3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split,</a:t>
            </a:r>
            <a:r>
              <a:rPr dirty="0" sz="900" spc="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3200</a:t>
            </a:r>
            <a:r>
              <a:rPr dirty="0" sz="900" spc="3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samples/group. </a:t>
            </a:r>
            <a:r>
              <a:rPr dirty="0" sz="900" spc="-10">
                <a:latin typeface="Tahoma"/>
                <a:cs typeface="Tahoma"/>
              </a:rPr>
              <a:t>EarlyStopping,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trained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for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5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epochs.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000" spc="-10" b="1">
                <a:latin typeface="Arial"/>
                <a:cs typeface="Arial"/>
              </a:rPr>
              <a:t>MFCC-</a:t>
            </a:r>
            <a:r>
              <a:rPr dirty="0" sz="1000" spc="-20" b="1">
                <a:latin typeface="Arial"/>
                <a:cs typeface="Arial"/>
              </a:rPr>
              <a:t>Based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LSTM:</a:t>
            </a:r>
            <a:endParaRPr sz="10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195"/>
              </a:spcBef>
            </a:pPr>
            <a:r>
              <a:rPr dirty="0" sz="900">
                <a:latin typeface="Tahoma"/>
                <a:cs typeface="Tahoma"/>
              </a:rPr>
              <a:t>Audio</a:t>
            </a:r>
            <a:r>
              <a:rPr dirty="0" sz="450" spc="315">
                <a:latin typeface="Times New Roman"/>
                <a:cs typeface="Times New Roman"/>
              </a:rPr>
              <a:t>   </a:t>
            </a:r>
            <a:r>
              <a:rPr dirty="0" sz="900" spc="55">
                <a:latin typeface="Tahoma"/>
                <a:cs typeface="Tahoma"/>
              </a:rPr>
              <a:t>MFCC</a:t>
            </a:r>
            <a:r>
              <a:rPr dirty="0" sz="900" spc="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features.</a:t>
            </a:r>
            <a:endParaRPr sz="900">
              <a:latin typeface="Tahoma"/>
              <a:cs typeface="Tahoma"/>
            </a:endParaRPr>
          </a:p>
          <a:p>
            <a:pPr marL="265430" marR="5080">
              <a:lnSpc>
                <a:spcPct val="101499"/>
              </a:lnSpc>
            </a:pPr>
            <a:r>
              <a:rPr dirty="0" sz="900">
                <a:latin typeface="Tahoma"/>
                <a:cs typeface="Tahoma"/>
              </a:rPr>
              <a:t>LSTM: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 spc="-35">
                <a:latin typeface="Tahoma"/>
                <a:cs typeface="Tahoma"/>
              </a:rPr>
              <a:t>128-</a:t>
            </a:r>
            <a:r>
              <a:rPr dirty="0" sz="900">
                <a:latin typeface="Tahoma"/>
                <a:cs typeface="Tahoma"/>
              </a:rPr>
              <a:t>unit</a:t>
            </a:r>
            <a:r>
              <a:rPr dirty="0" sz="900" spc="30">
                <a:latin typeface="Tahoma"/>
                <a:cs typeface="Tahoma"/>
              </a:rPr>
              <a:t> </a:t>
            </a:r>
            <a:r>
              <a:rPr dirty="0" sz="900" spc="70">
                <a:latin typeface="Tahoma"/>
                <a:cs typeface="Tahoma"/>
              </a:rPr>
              <a:t>LSTM</a:t>
            </a:r>
            <a:r>
              <a:rPr dirty="0" sz="450" spc="315">
                <a:latin typeface="Times New Roman"/>
                <a:cs typeface="Times New Roman"/>
              </a:rPr>
              <a:t>   </a:t>
            </a:r>
            <a:r>
              <a:rPr dirty="0" sz="900">
                <a:latin typeface="Tahoma"/>
                <a:cs typeface="Tahoma"/>
              </a:rPr>
              <a:t>Flatten</a:t>
            </a:r>
            <a:r>
              <a:rPr dirty="0" sz="450" spc="320">
                <a:latin typeface="Times New Roman"/>
                <a:cs typeface="Times New Roman"/>
              </a:rPr>
              <a:t>   </a:t>
            </a:r>
            <a:r>
              <a:rPr dirty="0" sz="900" spc="-25">
                <a:latin typeface="Tahoma"/>
                <a:cs typeface="Tahoma"/>
              </a:rPr>
              <a:t>Dense</a:t>
            </a:r>
            <a:r>
              <a:rPr dirty="0" sz="900" spc="40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layers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(128,</a:t>
            </a:r>
            <a:r>
              <a:rPr dirty="0" sz="900" spc="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64)</a:t>
            </a:r>
            <a:r>
              <a:rPr dirty="0" sz="450" spc="320">
                <a:latin typeface="Times New Roman"/>
                <a:cs typeface="Times New Roman"/>
              </a:rPr>
              <a:t>   </a:t>
            </a:r>
            <a:r>
              <a:rPr dirty="0" sz="900" spc="-20">
                <a:latin typeface="Tahoma"/>
                <a:cs typeface="Tahoma"/>
              </a:rPr>
              <a:t>9-</a:t>
            </a:r>
            <a:r>
              <a:rPr dirty="0" sz="900" spc="-10">
                <a:latin typeface="Tahoma"/>
                <a:cs typeface="Tahoma"/>
              </a:rPr>
              <a:t>output.</a:t>
            </a:r>
            <a:r>
              <a:rPr dirty="0" sz="900" spc="500">
                <a:latin typeface="Tahoma"/>
                <a:cs typeface="Tahoma"/>
              </a:rPr>
              <a:t>  </a:t>
            </a:r>
            <a:r>
              <a:rPr dirty="0" sz="900">
                <a:latin typeface="Tahoma"/>
                <a:cs typeface="Tahoma"/>
              </a:rPr>
              <a:t>50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epochs, </a:t>
            </a:r>
            <a:r>
              <a:rPr dirty="0" sz="900">
                <a:latin typeface="Tahoma"/>
                <a:cs typeface="Tahoma"/>
              </a:rPr>
              <a:t>batch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size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72,</a:t>
            </a:r>
            <a:r>
              <a:rPr dirty="0" sz="900" spc="-25">
                <a:latin typeface="Tahoma"/>
                <a:cs typeface="Tahoma"/>
              </a:rPr>
              <a:t> SparseCategoricalCrossentropy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loss,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EarlyStopping.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72527"/>
            <a:ext cx="243649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77F25"/>
                </a:solidFill>
                <a:latin typeface="Tahoma"/>
                <a:cs typeface="Tahoma"/>
              </a:rPr>
              <a:t>YAMNet</a:t>
            </a:r>
            <a:r>
              <a:rPr dirty="0" sz="1400" spc="40">
                <a:solidFill>
                  <a:srgbClr val="F77F25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F77F25"/>
                </a:solidFill>
                <a:latin typeface="Tahoma"/>
                <a:cs typeface="Tahoma"/>
              </a:rPr>
              <a:t>Transfer</a:t>
            </a:r>
            <a:r>
              <a:rPr dirty="0" sz="1400" spc="40">
                <a:solidFill>
                  <a:srgbClr val="F77F25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F77F25"/>
                </a:solidFill>
                <a:latin typeface="Tahoma"/>
                <a:cs typeface="Tahoma"/>
              </a:rPr>
              <a:t>Learning</a:t>
            </a:r>
            <a:r>
              <a:rPr dirty="0" sz="1400" spc="40">
                <a:solidFill>
                  <a:srgbClr val="F77F25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77F25"/>
                </a:solidFill>
                <a:latin typeface="Tahoma"/>
                <a:cs typeface="Tahoma"/>
              </a:rPr>
              <a:t>Flow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298994"/>
            <a:ext cx="4608195" cy="3157220"/>
            <a:chOff x="0" y="298994"/>
            <a:chExt cx="4608195" cy="315722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284" y="298994"/>
              <a:ext cx="3919386" cy="3157005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0" y="3364623"/>
              <a:ext cx="4608195" cy="91440"/>
            </a:xfrm>
            <a:custGeom>
              <a:avLst/>
              <a:gdLst/>
              <a:ahLst/>
              <a:cxnLst/>
              <a:rect l="l" t="t" r="r" b="b"/>
              <a:pathLst>
                <a:path w="4608195" h="91439">
                  <a:moveTo>
                    <a:pt x="4607928" y="0"/>
                  </a:moveTo>
                  <a:lnTo>
                    <a:pt x="3071952" y="0"/>
                  </a:lnTo>
                  <a:lnTo>
                    <a:pt x="1535976" y="0"/>
                  </a:ln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3071952" y="91376"/>
                  </a:lnTo>
                  <a:lnTo>
                    <a:pt x="4607928" y="91376"/>
                  </a:lnTo>
                  <a:lnTo>
                    <a:pt x="4607928" y="0"/>
                  </a:lnTo>
                  <a:close/>
                </a:path>
              </a:pathLst>
            </a:custGeom>
            <a:solidFill>
              <a:srgbClr val="F77F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364623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91376"/>
                </a:lnTo>
                <a:lnTo>
                  <a:pt x="1535976" y="91376"/>
                </a:lnTo>
                <a:lnTo>
                  <a:pt x="3071952" y="91376"/>
                </a:lnTo>
                <a:lnTo>
                  <a:pt x="4607928" y="91376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72527"/>
            <a:ext cx="194691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77F25"/>
                </a:solidFill>
                <a:latin typeface="Tahoma"/>
                <a:cs typeface="Tahoma"/>
              </a:rPr>
              <a:t>MFCC-Based</a:t>
            </a:r>
            <a:r>
              <a:rPr dirty="0" sz="1400" spc="25">
                <a:solidFill>
                  <a:srgbClr val="F77F25"/>
                </a:solidFill>
                <a:latin typeface="Tahoma"/>
                <a:cs typeface="Tahoma"/>
              </a:rPr>
              <a:t> </a:t>
            </a:r>
            <a:r>
              <a:rPr dirty="0" sz="1400" spc="80">
                <a:solidFill>
                  <a:srgbClr val="F77F25"/>
                </a:solidFill>
                <a:latin typeface="Tahoma"/>
                <a:cs typeface="Tahoma"/>
              </a:rPr>
              <a:t>LSTM</a:t>
            </a:r>
            <a:r>
              <a:rPr dirty="0" sz="1400" spc="30">
                <a:solidFill>
                  <a:srgbClr val="F77F25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77F25"/>
                </a:solidFill>
                <a:latin typeface="Tahoma"/>
                <a:cs typeface="Tahoma"/>
              </a:rPr>
              <a:t>Flow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284" y="543564"/>
            <a:ext cx="3919386" cy="240368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364623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91376"/>
                </a:lnTo>
                <a:lnTo>
                  <a:pt x="1535976" y="91376"/>
                </a:lnTo>
                <a:lnTo>
                  <a:pt x="3071952" y="91376"/>
                </a:lnTo>
                <a:lnTo>
                  <a:pt x="4607928" y="91376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Gunshot</a:t>
            </a:r>
            <a:r>
              <a:rPr dirty="0" spc="-40"/>
              <a:t> </a:t>
            </a:r>
            <a:r>
              <a:rPr dirty="0" spc="-20"/>
              <a:t>Detection</a:t>
            </a:r>
            <a:r>
              <a:rPr dirty="0" spc="-40"/>
              <a:t> </a:t>
            </a:r>
            <a:r>
              <a:rPr dirty="0"/>
              <a:t>Model</a:t>
            </a:r>
            <a:r>
              <a:rPr dirty="0" spc="-40"/>
              <a:t> Performance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977569"/>
            <a:ext cx="59601" cy="5960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167358"/>
            <a:ext cx="59601" cy="596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508975"/>
            <a:ext cx="59601" cy="5960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2040382"/>
            <a:ext cx="59601" cy="5960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705" y="2230170"/>
            <a:ext cx="59601" cy="5960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6705" y="2571788"/>
            <a:ext cx="59601" cy="5960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13830" y="672725"/>
            <a:ext cx="4344670" cy="1999614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395"/>
              </a:spcBef>
              <a:buAutoNum type="alphaUcPeriod"/>
              <a:tabLst>
                <a:tab pos="189230" algn="l"/>
              </a:tabLst>
            </a:pPr>
            <a:r>
              <a:rPr dirty="0" sz="1000" spc="-45" b="1">
                <a:latin typeface="Arial"/>
                <a:cs typeface="Arial"/>
              </a:rPr>
              <a:t>TensorFlow</a:t>
            </a:r>
            <a:r>
              <a:rPr dirty="0" sz="1000" spc="8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YAMNet</a:t>
            </a:r>
            <a:r>
              <a:rPr dirty="0" sz="1000" spc="80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Transfer</a:t>
            </a:r>
            <a:r>
              <a:rPr dirty="0" sz="1000" spc="80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Learning</a:t>
            </a:r>
            <a:r>
              <a:rPr dirty="0" sz="1000" spc="8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Model:</a:t>
            </a:r>
            <a:endParaRPr sz="10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dirty="0" sz="1000" spc="-20">
                <a:latin typeface="Tahoma"/>
                <a:cs typeface="Tahoma"/>
              </a:rPr>
              <a:t>Test</a:t>
            </a:r>
            <a:r>
              <a:rPr dirty="0" sz="1000" spc="-25">
                <a:latin typeface="Tahoma"/>
                <a:cs typeface="Tahoma"/>
              </a:rPr>
              <a:t> set:</a:t>
            </a:r>
            <a:r>
              <a:rPr dirty="0" sz="1000" spc="8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Loss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0.0490,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Accuracy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98.75%</a:t>
            </a:r>
            <a:endParaRPr sz="1000">
              <a:latin typeface="Tahoma"/>
              <a:cs typeface="Tahoma"/>
            </a:endParaRPr>
          </a:p>
          <a:p>
            <a:pPr marL="265430" marR="672465">
              <a:lnSpc>
                <a:spcPct val="100000"/>
              </a:lnSpc>
              <a:spcBef>
                <a:spcPts val="290"/>
              </a:spcBef>
            </a:pPr>
            <a:r>
              <a:rPr dirty="0" sz="1000" spc="-25">
                <a:latin typeface="Tahoma"/>
                <a:cs typeface="Tahoma"/>
              </a:rPr>
              <a:t>Confusion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Matrix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(1280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samples):</a:t>
            </a:r>
            <a:r>
              <a:rPr dirty="0" sz="1000" spc="125">
                <a:latin typeface="Tahoma"/>
                <a:cs typeface="Tahoma"/>
              </a:rPr>
              <a:t> </a:t>
            </a:r>
            <a:r>
              <a:rPr dirty="0" sz="1000" spc="-35" b="1">
                <a:latin typeface="Arial"/>
                <a:cs typeface="Arial"/>
              </a:rPr>
              <a:t>Gunshot:</a:t>
            </a:r>
            <a:r>
              <a:rPr dirty="0" sz="1000" spc="19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637/640</a:t>
            </a:r>
            <a:r>
              <a:rPr dirty="0" sz="1000" spc="80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correct</a:t>
            </a:r>
            <a:r>
              <a:rPr dirty="0" sz="1000" spc="-25">
                <a:latin typeface="Tahoma"/>
                <a:cs typeface="Tahoma"/>
              </a:rPr>
              <a:t>, </a:t>
            </a:r>
            <a:r>
              <a:rPr dirty="0" sz="1000" spc="-50" b="1">
                <a:latin typeface="Arial"/>
                <a:cs typeface="Arial"/>
              </a:rPr>
              <a:t>Non-</a:t>
            </a:r>
            <a:r>
              <a:rPr dirty="0" sz="1000" spc="-25" b="1">
                <a:latin typeface="Arial"/>
                <a:cs typeface="Arial"/>
              </a:rPr>
              <a:t>gunshot:</a:t>
            </a:r>
            <a:r>
              <a:rPr dirty="0" sz="1000" spc="3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635/640</a:t>
            </a:r>
            <a:r>
              <a:rPr dirty="0" sz="1000" spc="17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correct</a:t>
            </a:r>
            <a:endParaRPr sz="1000">
              <a:latin typeface="Arial"/>
              <a:cs typeface="Arial"/>
            </a:endParaRPr>
          </a:p>
          <a:p>
            <a:pPr marL="265430" marR="5080">
              <a:lnSpc>
                <a:spcPct val="100000"/>
              </a:lnSpc>
              <a:spcBef>
                <a:spcPts val="290"/>
              </a:spcBef>
            </a:pPr>
            <a:r>
              <a:rPr dirty="0" sz="1000">
                <a:latin typeface="Tahoma"/>
                <a:cs typeface="Tahoma"/>
              </a:rPr>
              <a:t>Minimal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misclassification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demonstrates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strong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predictive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power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real-</a:t>
            </a:r>
            <a:r>
              <a:rPr dirty="0" sz="1000" spc="-10">
                <a:latin typeface="Tahoma"/>
                <a:cs typeface="Tahoma"/>
              </a:rPr>
              <a:t>world deployment.</a:t>
            </a:r>
            <a:endParaRPr sz="1000">
              <a:latin typeface="Tahoma"/>
              <a:cs typeface="Tahoma"/>
            </a:endParaRPr>
          </a:p>
          <a:p>
            <a:pPr marL="189230" indent="-176530">
              <a:lnSpc>
                <a:spcPct val="100000"/>
              </a:lnSpc>
              <a:spcBef>
                <a:spcPts val="290"/>
              </a:spcBef>
              <a:buAutoNum type="alphaUcPeriod" startAt="2"/>
              <a:tabLst>
                <a:tab pos="189230" algn="l"/>
              </a:tabLst>
            </a:pPr>
            <a:r>
              <a:rPr dirty="0" sz="1000" spc="-10" b="1">
                <a:latin typeface="Arial"/>
                <a:cs typeface="Arial"/>
              </a:rPr>
              <a:t>MFCC-</a:t>
            </a:r>
            <a:r>
              <a:rPr dirty="0" sz="1000" spc="-20" b="1">
                <a:latin typeface="Arial"/>
                <a:cs typeface="Arial"/>
              </a:rPr>
              <a:t>Based</a:t>
            </a:r>
            <a:r>
              <a:rPr dirty="0" sz="1000" spc="1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LSTM</a:t>
            </a:r>
            <a:r>
              <a:rPr dirty="0" sz="1000" spc="14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Model:</a:t>
            </a:r>
            <a:endParaRPr sz="10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dirty="0" sz="1000" spc="-20">
                <a:latin typeface="Tahoma"/>
                <a:cs typeface="Tahoma"/>
              </a:rPr>
              <a:t>Test</a:t>
            </a:r>
            <a:r>
              <a:rPr dirty="0" sz="1000" spc="-25">
                <a:latin typeface="Tahoma"/>
                <a:cs typeface="Tahoma"/>
              </a:rPr>
              <a:t> set:</a:t>
            </a:r>
            <a:r>
              <a:rPr dirty="0" sz="1000" spc="8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Loss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0.1676,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Accuracy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96.95%</a:t>
            </a:r>
            <a:endParaRPr sz="1000">
              <a:latin typeface="Tahoma"/>
              <a:cs typeface="Tahoma"/>
            </a:endParaRPr>
          </a:p>
          <a:p>
            <a:pPr marL="265430" marR="672465">
              <a:lnSpc>
                <a:spcPct val="100000"/>
              </a:lnSpc>
              <a:spcBef>
                <a:spcPts val="295"/>
              </a:spcBef>
            </a:pPr>
            <a:r>
              <a:rPr dirty="0" sz="1000" spc="-25">
                <a:latin typeface="Tahoma"/>
                <a:cs typeface="Tahoma"/>
              </a:rPr>
              <a:t>Confusion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Matrix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(1280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samples):</a:t>
            </a:r>
            <a:r>
              <a:rPr dirty="0" sz="1000" spc="125">
                <a:latin typeface="Tahoma"/>
                <a:cs typeface="Tahoma"/>
              </a:rPr>
              <a:t> </a:t>
            </a:r>
            <a:r>
              <a:rPr dirty="0" sz="1000" spc="-35" b="1">
                <a:latin typeface="Arial"/>
                <a:cs typeface="Arial"/>
              </a:rPr>
              <a:t>Gunshot:</a:t>
            </a:r>
            <a:r>
              <a:rPr dirty="0" sz="1000" spc="19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623/640</a:t>
            </a:r>
            <a:r>
              <a:rPr dirty="0" sz="1000" spc="80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correct</a:t>
            </a:r>
            <a:r>
              <a:rPr dirty="0" sz="1000" spc="-25">
                <a:latin typeface="Tahoma"/>
                <a:cs typeface="Tahoma"/>
              </a:rPr>
              <a:t>, </a:t>
            </a:r>
            <a:r>
              <a:rPr dirty="0" sz="1000" spc="-50" b="1">
                <a:latin typeface="Arial"/>
                <a:cs typeface="Arial"/>
              </a:rPr>
              <a:t>Non-</a:t>
            </a:r>
            <a:r>
              <a:rPr dirty="0" sz="1000" spc="-25" b="1">
                <a:latin typeface="Arial"/>
                <a:cs typeface="Arial"/>
              </a:rPr>
              <a:t>gunshot:</a:t>
            </a:r>
            <a:r>
              <a:rPr dirty="0" sz="1000" spc="3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618/640</a:t>
            </a:r>
            <a:r>
              <a:rPr dirty="0" sz="1000" spc="17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correct</a:t>
            </a:r>
            <a:endParaRPr sz="10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290"/>
              </a:spcBef>
            </a:pPr>
            <a:r>
              <a:rPr dirty="0" sz="1000">
                <a:latin typeface="Tahoma"/>
                <a:cs typeface="Tahoma"/>
              </a:rPr>
              <a:t>High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accuracy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indicates </a:t>
            </a:r>
            <a:r>
              <a:rPr dirty="0" sz="1000" spc="-30">
                <a:latin typeface="Tahoma"/>
                <a:cs typeface="Tahoma"/>
              </a:rPr>
              <a:t>strong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generalization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real-</a:t>
            </a:r>
            <a:r>
              <a:rPr dirty="0" sz="1000" spc="-35">
                <a:latin typeface="Tahoma"/>
                <a:cs typeface="Tahoma"/>
              </a:rPr>
              <a:t>world</a:t>
            </a:r>
            <a:r>
              <a:rPr dirty="0" sz="1000" spc="-20">
                <a:latin typeface="Tahoma"/>
                <a:cs typeface="Tahoma"/>
              </a:rPr>
              <a:t> use.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729" y="1293761"/>
            <a:ext cx="4507865" cy="473075"/>
            <a:chOff x="75729" y="1293761"/>
            <a:chExt cx="4507865" cy="473075"/>
          </a:xfrm>
        </p:grpSpPr>
        <p:sp>
          <p:nvSpPr>
            <p:cNvPr id="3" name="object 3" descr=""/>
            <p:cNvSpPr/>
            <p:nvPr/>
          </p:nvSpPr>
          <p:spPr>
            <a:xfrm>
              <a:off x="75729" y="1293761"/>
              <a:ext cx="4457065" cy="82550"/>
            </a:xfrm>
            <a:custGeom>
              <a:avLst/>
              <a:gdLst/>
              <a:ahLst/>
              <a:cxnLst/>
              <a:rect l="l" t="t" r="r" b="b"/>
              <a:pathLst>
                <a:path w="4457065" h="82550">
                  <a:moveTo>
                    <a:pt x="440580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56606" y="82384"/>
                  </a:lnTo>
                  <a:lnTo>
                    <a:pt x="4456606" y="50800"/>
                  </a:lnTo>
                  <a:lnTo>
                    <a:pt x="4452598" y="31075"/>
                  </a:lnTo>
                  <a:lnTo>
                    <a:pt x="4441684" y="14922"/>
                  </a:lnTo>
                  <a:lnTo>
                    <a:pt x="4425531" y="4008"/>
                  </a:lnTo>
                  <a:lnTo>
                    <a:pt x="4405806" y="0"/>
                  </a:lnTo>
                  <a:close/>
                </a:path>
              </a:pathLst>
            </a:custGeom>
            <a:solidFill>
              <a:srgbClr val="F77F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6530" y="1357018"/>
              <a:ext cx="4457065" cy="409575"/>
            </a:xfrm>
            <a:custGeom>
              <a:avLst/>
              <a:gdLst/>
              <a:ahLst/>
              <a:cxnLst/>
              <a:rect l="l" t="t" r="r" b="b"/>
              <a:pathLst>
                <a:path w="4457065" h="409575">
                  <a:moveTo>
                    <a:pt x="4456607" y="0"/>
                  </a:moveTo>
                  <a:lnTo>
                    <a:pt x="0" y="0"/>
                  </a:lnTo>
                  <a:lnTo>
                    <a:pt x="0" y="409578"/>
                  </a:lnTo>
                  <a:lnTo>
                    <a:pt x="4456607" y="409578"/>
                  </a:lnTo>
                  <a:lnTo>
                    <a:pt x="44566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5729" y="1338181"/>
              <a:ext cx="4457065" cy="377825"/>
            </a:xfrm>
            <a:custGeom>
              <a:avLst/>
              <a:gdLst/>
              <a:ahLst/>
              <a:cxnLst/>
              <a:rect l="l" t="t" r="r" b="b"/>
              <a:pathLst>
                <a:path w="4457065" h="377825">
                  <a:moveTo>
                    <a:pt x="4456606" y="0"/>
                  </a:moveTo>
                  <a:lnTo>
                    <a:pt x="0" y="0"/>
                  </a:lnTo>
                  <a:lnTo>
                    <a:pt x="0" y="326814"/>
                  </a:lnTo>
                  <a:lnTo>
                    <a:pt x="4008" y="346538"/>
                  </a:lnTo>
                  <a:lnTo>
                    <a:pt x="14922" y="362691"/>
                  </a:lnTo>
                  <a:lnTo>
                    <a:pt x="31075" y="373606"/>
                  </a:lnTo>
                  <a:lnTo>
                    <a:pt x="50800" y="377614"/>
                  </a:lnTo>
                  <a:lnTo>
                    <a:pt x="4405806" y="377614"/>
                  </a:lnTo>
                  <a:lnTo>
                    <a:pt x="4425531" y="373606"/>
                  </a:lnTo>
                  <a:lnTo>
                    <a:pt x="4441684" y="362691"/>
                  </a:lnTo>
                  <a:lnTo>
                    <a:pt x="4452598" y="346538"/>
                  </a:lnTo>
                  <a:lnTo>
                    <a:pt x="4456606" y="326814"/>
                  </a:lnTo>
                  <a:lnTo>
                    <a:pt x="4456606" y="0"/>
                  </a:lnTo>
                  <a:close/>
                </a:path>
              </a:pathLst>
            </a:custGeom>
            <a:solidFill>
              <a:srgbClr val="F77F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26530" y="1357018"/>
            <a:ext cx="4457065" cy="40957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 marR="93345">
              <a:lnSpc>
                <a:spcPct val="100000"/>
              </a:lnSpc>
              <a:spcBef>
                <a:spcPts val="475"/>
              </a:spcBef>
            </a:pPr>
            <a:r>
              <a:rPr dirty="0" sz="1200" spc="-55">
                <a:latin typeface="Tahoma"/>
                <a:cs typeface="Tahoma"/>
                <a:hlinkClick r:id="rId2" action="ppaction://hlinksldjump"/>
              </a:rPr>
              <a:t>Results</a:t>
            </a:r>
            <a:r>
              <a:rPr dirty="0" sz="1200" spc="15"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1200" spc="-10">
                <a:latin typeface="Tahoma"/>
                <a:cs typeface="Tahoma"/>
                <a:hlinkClick r:id="rId2" action="ppaction://hlinksldjump"/>
              </a:rPr>
              <a:t>Obtained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0" y="3364623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91376"/>
                </a:lnTo>
                <a:lnTo>
                  <a:pt x="1535963" y="91376"/>
                </a:lnTo>
                <a:lnTo>
                  <a:pt x="3071939" y="91376"/>
                </a:lnTo>
                <a:lnTo>
                  <a:pt x="4607928" y="91376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364636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91363"/>
                </a:lnTo>
                <a:lnTo>
                  <a:pt x="1535963" y="91363"/>
                </a:lnTo>
                <a:lnTo>
                  <a:pt x="3071939" y="91363"/>
                </a:lnTo>
                <a:lnTo>
                  <a:pt x="4607915" y="91363"/>
                </a:lnTo>
                <a:lnTo>
                  <a:pt x="4607915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Test</a:t>
            </a:r>
            <a:r>
              <a:rPr dirty="0" spc="-50"/>
              <a:t> </a:t>
            </a:r>
            <a:r>
              <a:rPr dirty="0" spc="-45"/>
              <a:t>Performance</a:t>
            </a:r>
            <a:r>
              <a:rPr dirty="0" spc="-50"/>
              <a:t> </a:t>
            </a:r>
            <a:r>
              <a:rPr dirty="0" spc="-40"/>
              <a:t>Comparison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13830" y="910315"/>
            <a:ext cx="425450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Both</a:t>
            </a:r>
            <a:r>
              <a:rPr dirty="0" sz="1000" spc="-35">
                <a:latin typeface="Tahoma"/>
                <a:cs typeface="Tahoma"/>
              </a:rPr>
              <a:t> models </a:t>
            </a:r>
            <a:r>
              <a:rPr dirty="0" sz="1000" spc="-40">
                <a:latin typeface="Tahoma"/>
                <a:cs typeface="Tahoma"/>
              </a:rPr>
              <a:t>achieved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high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accuracy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training,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validation,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test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sets.</a:t>
            </a:r>
            <a:r>
              <a:rPr dirty="0" sz="1000" spc="6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Final </a:t>
            </a:r>
            <a:r>
              <a:rPr dirty="0" sz="1000" spc="-30">
                <a:latin typeface="Tahoma"/>
                <a:cs typeface="Tahoma"/>
              </a:rPr>
              <a:t>evaluation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results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are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follows: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1512493"/>
            <a:ext cx="59601" cy="596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702282"/>
            <a:ext cx="59601" cy="5960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892071"/>
            <a:ext cx="59601" cy="59601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13830" y="1207649"/>
            <a:ext cx="1597660" cy="78486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000" b="1">
                <a:latin typeface="Arial"/>
                <a:cs typeface="Arial"/>
              </a:rPr>
              <a:t>YAMNet</a:t>
            </a:r>
            <a:r>
              <a:rPr dirty="0" sz="1000" spc="140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Transfer</a:t>
            </a:r>
            <a:r>
              <a:rPr dirty="0" sz="1000" spc="140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Learning</a:t>
            </a:r>
            <a:endParaRPr sz="10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dirty="0" sz="1000" spc="-20">
                <a:latin typeface="Tahoma"/>
                <a:cs typeface="Tahoma"/>
              </a:rPr>
              <a:t>Test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Loss: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0.0384</a:t>
            </a:r>
            <a:endParaRPr sz="1000">
              <a:latin typeface="Tahoma"/>
              <a:cs typeface="Tahoma"/>
            </a:endParaRPr>
          </a:p>
          <a:p>
            <a:pPr marL="265430" marR="89535">
              <a:lnSpc>
                <a:spcPct val="124500"/>
              </a:lnSpc>
            </a:pPr>
            <a:r>
              <a:rPr dirty="0" sz="1000" spc="-20">
                <a:latin typeface="Tahoma"/>
                <a:cs typeface="Tahoma"/>
              </a:rPr>
              <a:t>Test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Accuracy:</a:t>
            </a:r>
            <a:r>
              <a:rPr dirty="0" sz="1000" spc="55">
                <a:latin typeface="Tahoma"/>
                <a:cs typeface="Tahoma"/>
              </a:rPr>
              <a:t> </a:t>
            </a:r>
            <a:r>
              <a:rPr dirty="0" sz="1000" spc="-70">
                <a:latin typeface="Tahoma"/>
                <a:cs typeface="Tahoma"/>
              </a:rPr>
              <a:t>98.52% </a:t>
            </a:r>
            <a:r>
              <a:rPr dirty="0" sz="1000" spc="-25">
                <a:latin typeface="Tahoma"/>
                <a:cs typeface="Tahoma"/>
              </a:rPr>
              <a:t>Confusion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Matrix: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32484" y="2060440"/>
            <a:ext cx="531495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  <a:tabLst>
                <a:tab pos="391795" algn="l"/>
              </a:tabLst>
            </a:pPr>
            <a:r>
              <a:rPr dirty="0" sz="1000" spc="-25">
                <a:latin typeface="Calibri"/>
                <a:cs typeface="Calibri"/>
              </a:rPr>
              <a:t>636</a:t>
            </a:r>
            <a:r>
              <a:rPr dirty="0" sz="1000">
                <a:latin typeface="Calibri"/>
                <a:cs typeface="Calibri"/>
              </a:rPr>
              <a:t>	</a:t>
            </a:r>
            <a:r>
              <a:rPr dirty="0" sz="1000" spc="-50">
                <a:latin typeface="Calibri"/>
                <a:cs typeface="Calibri"/>
              </a:rPr>
              <a:t>4</a:t>
            </a:r>
            <a:endParaRPr sz="1000">
              <a:latin typeface="Calibri"/>
              <a:cs typeface="Calibri"/>
            </a:endParaRPr>
          </a:p>
          <a:p>
            <a:pPr marL="43815">
              <a:lnSpc>
                <a:spcPts val="1200"/>
              </a:lnSpc>
              <a:tabLst>
                <a:tab pos="328930" algn="l"/>
              </a:tabLst>
            </a:pPr>
            <a:r>
              <a:rPr dirty="0" sz="1000" spc="-25">
                <a:latin typeface="Calibri"/>
                <a:cs typeface="Calibri"/>
              </a:rPr>
              <a:t>10</a:t>
            </a:r>
            <a:r>
              <a:rPr dirty="0" sz="1000">
                <a:latin typeface="Calibri"/>
                <a:cs typeface="Calibri"/>
              </a:rPr>
              <a:t>	</a:t>
            </a:r>
            <a:r>
              <a:rPr dirty="0" sz="1000" spc="-25">
                <a:latin typeface="Calibri"/>
                <a:cs typeface="Calibri"/>
              </a:rPr>
              <a:t>630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65695" y="1959208"/>
            <a:ext cx="665480" cy="17780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585470" algn="l"/>
              </a:tabLst>
            </a:pPr>
            <a:r>
              <a:rPr dirty="0" sz="1000">
                <a:latin typeface="Arial MT"/>
                <a:cs typeface="Arial MT"/>
              </a:rPr>
              <a:t>	 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21305" y="1512493"/>
            <a:ext cx="59601" cy="5960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21305" y="1702282"/>
            <a:ext cx="59601" cy="59601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21305" y="1892071"/>
            <a:ext cx="59601" cy="59601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2378417" y="1207649"/>
            <a:ext cx="1513205" cy="78486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000" spc="-10" b="1">
                <a:latin typeface="Arial"/>
                <a:cs typeface="Arial"/>
              </a:rPr>
              <a:t>MFCC-</a:t>
            </a:r>
            <a:r>
              <a:rPr dirty="0" sz="1000" spc="-20" b="1">
                <a:latin typeface="Arial"/>
                <a:cs typeface="Arial"/>
              </a:rPr>
              <a:t>Based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LSTM</a:t>
            </a:r>
            <a:endParaRPr sz="10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dirty="0" sz="1000" spc="-20">
                <a:latin typeface="Tahoma"/>
                <a:cs typeface="Tahoma"/>
              </a:rPr>
              <a:t>Test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Loss: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0.1706</a:t>
            </a:r>
            <a:endParaRPr sz="1000">
              <a:latin typeface="Tahoma"/>
              <a:cs typeface="Tahoma"/>
            </a:endParaRPr>
          </a:p>
          <a:p>
            <a:pPr marL="265430" marR="5080">
              <a:lnSpc>
                <a:spcPct val="124500"/>
              </a:lnSpc>
            </a:pPr>
            <a:r>
              <a:rPr dirty="0" sz="1000" spc="-20">
                <a:latin typeface="Tahoma"/>
                <a:cs typeface="Tahoma"/>
              </a:rPr>
              <a:t>Test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Accuracy:</a:t>
            </a:r>
            <a:r>
              <a:rPr dirty="0" sz="1000" spc="55">
                <a:latin typeface="Tahoma"/>
                <a:cs typeface="Tahoma"/>
              </a:rPr>
              <a:t> </a:t>
            </a:r>
            <a:r>
              <a:rPr dirty="0" sz="1000" spc="-70">
                <a:latin typeface="Tahoma"/>
                <a:cs typeface="Tahoma"/>
              </a:rPr>
              <a:t>96.04% </a:t>
            </a:r>
            <a:r>
              <a:rPr dirty="0" sz="1000" spc="-25">
                <a:latin typeface="Tahoma"/>
                <a:cs typeface="Tahoma"/>
              </a:rPr>
              <a:t>Confusion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Matrix: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3297072" y="2060440"/>
            <a:ext cx="53213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  <a:tabLst>
                <a:tab pos="360045" algn="l"/>
              </a:tabLst>
            </a:pPr>
            <a:r>
              <a:rPr dirty="0" sz="1000" spc="-25">
                <a:latin typeface="Calibri"/>
                <a:cs typeface="Calibri"/>
              </a:rPr>
              <a:t>619</a:t>
            </a:r>
            <a:r>
              <a:rPr dirty="0" sz="1000">
                <a:latin typeface="Calibri"/>
                <a:cs typeface="Calibri"/>
              </a:rPr>
              <a:t>	</a:t>
            </a:r>
            <a:r>
              <a:rPr dirty="0" sz="1000" spc="-25">
                <a:latin typeface="Calibri"/>
                <a:cs typeface="Calibri"/>
              </a:rPr>
              <a:t>21</a:t>
            </a:r>
            <a:endParaRPr sz="1000">
              <a:latin typeface="Calibri"/>
              <a:cs typeface="Calibri"/>
            </a:endParaRPr>
          </a:p>
          <a:p>
            <a:pPr marL="43815">
              <a:lnSpc>
                <a:spcPts val="1200"/>
              </a:lnSpc>
              <a:tabLst>
                <a:tab pos="328930" algn="l"/>
              </a:tabLst>
            </a:pPr>
            <a:r>
              <a:rPr dirty="0" sz="1000" spc="-25">
                <a:latin typeface="Calibri"/>
                <a:cs typeface="Calibri"/>
              </a:rPr>
              <a:t>23</a:t>
            </a:r>
            <a:r>
              <a:rPr dirty="0" sz="1000">
                <a:latin typeface="Calibri"/>
                <a:cs typeface="Calibri"/>
              </a:rPr>
              <a:t>	</a:t>
            </a:r>
            <a:r>
              <a:rPr dirty="0" sz="1000" spc="-25">
                <a:latin typeface="Calibri"/>
                <a:cs typeface="Calibri"/>
              </a:rPr>
              <a:t>617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230295" y="1959208"/>
            <a:ext cx="665480" cy="17780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585470" algn="l"/>
              </a:tabLst>
            </a:pPr>
            <a:r>
              <a:rPr dirty="0" sz="1000">
                <a:latin typeface="Arial MT"/>
                <a:cs typeface="Arial MT"/>
              </a:rPr>
              <a:t>	 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364636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91363"/>
                </a:lnTo>
                <a:lnTo>
                  <a:pt x="1535963" y="91363"/>
                </a:lnTo>
                <a:lnTo>
                  <a:pt x="3071939" y="91363"/>
                </a:lnTo>
                <a:lnTo>
                  <a:pt x="4607928" y="91363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65"/>
              <a:t>MFCC</a:t>
            </a:r>
            <a:r>
              <a:rPr dirty="0" spc="20"/>
              <a:t> </a:t>
            </a:r>
            <a:r>
              <a:rPr dirty="0" spc="-10"/>
              <a:t>vs</a:t>
            </a:r>
            <a:r>
              <a:rPr dirty="0" spc="25"/>
              <a:t> </a:t>
            </a:r>
            <a:r>
              <a:rPr dirty="0"/>
              <a:t>YAMNet</a:t>
            </a:r>
            <a:r>
              <a:rPr dirty="0" spc="25"/>
              <a:t> </a:t>
            </a:r>
            <a:r>
              <a:rPr dirty="0" spc="-35"/>
              <a:t>Feature</a:t>
            </a:r>
            <a:r>
              <a:rPr dirty="0" spc="25"/>
              <a:t> </a:t>
            </a:r>
            <a:r>
              <a:rPr dirty="0" spc="-10"/>
              <a:t>Matrices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1130820" y="505142"/>
            <a:ext cx="41910" cy="0"/>
          </a:xfrm>
          <a:custGeom>
            <a:avLst/>
            <a:gdLst/>
            <a:ahLst/>
            <a:cxnLst/>
            <a:rect l="l" t="t" r="r" b="b"/>
            <a:pathLst>
              <a:path w="41909" h="0">
                <a:moveTo>
                  <a:pt x="0" y="0"/>
                </a:moveTo>
                <a:lnTo>
                  <a:pt x="4175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34758" y="368444"/>
            <a:ext cx="8343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MFCC</a:t>
            </a:r>
            <a:r>
              <a:rPr dirty="0" sz="1000" spc="14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Matrix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604" y="648157"/>
            <a:ext cx="2071448" cy="149077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08673" y="2447945"/>
            <a:ext cx="2130425" cy="30162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533400" marR="5080" indent="-521334">
              <a:lnSpc>
                <a:spcPct val="101499"/>
              </a:lnSpc>
              <a:spcBef>
                <a:spcPts val="80"/>
              </a:spcBef>
            </a:pPr>
            <a:r>
              <a:rPr dirty="0" sz="900" spc="-10">
                <a:latin typeface="Tahoma"/>
                <a:cs typeface="Tahoma"/>
              </a:rPr>
              <a:t>Spectral–temporal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representation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extracted </a:t>
            </a:r>
            <a:r>
              <a:rPr dirty="0" sz="900" spc="-10">
                <a:latin typeface="Tahoma"/>
                <a:cs typeface="Tahoma"/>
              </a:rPr>
              <a:t>using </a:t>
            </a:r>
            <a:r>
              <a:rPr dirty="0" sz="900" spc="55">
                <a:latin typeface="Tahoma"/>
                <a:cs typeface="Tahoma"/>
              </a:rPr>
              <a:t>MFCC</a:t>
            </a:r>
            <a:r>
              <a:rPr dirty="0" sz="900" spc="-10">
                <a:latin typeface="Tahoma"/>
                <a:cs typeface="Tahoma"/>
              </a:rPr>
              <a:t> features.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3462146" y="557580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 h="0">
                <a:moveTo>
                  <a:pt x="0" y="0"/>
                </a:moveTo>
                <a:lnTo>
                  <a:pt x="4175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2927083" y="420883"/>
            <a:ext cx="9734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YAMNet</a:t>
            </a:r>
            <a:r>
              <a:rPr dirty="0" sz="1000" spc="30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Matrix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93168" y="696979"/>
            <a:ext cx="2078265" cy="1394213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340178" y="2395507"/>
            <a:ext cx="2189480" cy="30162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666750" marR="5080" indent="-654685">
              <a:lnSpc>
                <a:spcPct val="101499"/>
              </a:lnSpc>
              <a:spcBef>
                <a:spcPts val="80"/>
              </a:spcBef>
            </a:pPr>
            <a:r>
              <a:rPr dirty="0" sz="900" spc="-10">
                <a:latin typeface="Tahoma"/>
                <a:cs typeface="Tahoma"/>
              </a:rPr>
              <a:t>Deep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audio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embeddings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learned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by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YAMNet </a:t>
            </a:r>
            <a:r>
              <a:rPr dirty="0" sz="900" spc="-25">
                <a:latin typeface="Tahoma"/>
                <a:cs typeface="Tahoma"/>
              </a:rPr>
              <a:t>pretrained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model.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113830" y="2844998"/>
            <a:ext cx="4314825" cy="30162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80"/>
              </a:spcBef>
            </a:pP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 spc="55">
                <a:latin typeface="Tahoma"/>
                <a:cs typeface="Tahoma"/>
              </a:rPr>
              <a:t>MFCC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matrix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captures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handcrafted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frequency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features,</a:t>
            </a:r>
            <a:r>
              <a:rPr dirty="0" sz="900" spc="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while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YAMNet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embeddings </a:t>
            </a:r>
            <a:r>
              <a:rPr dirty="0" sz="900" spc="-20">
                <a:latin typeface="Tahoma"/>
                <a:cs typeface="Tahoma"/>
              </a:rPr>
              <a:t>provide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high-</a:t>
            </a:r>
            <a:r>
              <a:rPr dirty="0" sz="900" spc="-10">
                <a:latin typeface="Tahoma"/>
                <a:cs typeface="Tahoma"/>
              </a:rPr>
              <a:t>level </a:t>
            </a:r>
            <a:r>
              <a:rPr dirty="0" sz="900" spc="-20">
                <a:latin typeface="Tahoma"/>
                <a:cs typeface="Tahoma"/>
              </a:rPr>
              <a:t>semantic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representations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learned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from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35">
                <a:latin typeface="Tahoma"/>
                <a:cs typeface="Tahoma"/>
              </a:rPr>
              <a:t>large-</a:t>
            </a:r>
            <a:r>
              <a:rPr dirty="0" sz="900" spc="-20">
                <a:latin typeface="Tahoma"/>
                <a:cs typeface="Tahoma"/>
              </a:rPr>
              <a:t>scale</a:t>
            </a:r>
            <a:r>
              <a:rPr dirty="0" sz="900" spc="-10">
                <a:latin typeface="Tahoma"/>
                <a:cs typeface="Tahoma"/>
              </a:rPr>
              <a:t> audio datasets.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364623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91376"/>
                </a:lnTo>
                <a:lnTo>
                  <a:pt x="1535976" y="91376"/>
                </a:lnTo>
                <a:lnTo>
                  <a:pt x="3071952" y="91376"/>
                </a:lnTo>
                <a:lnTo>
                  <a:pt x="4607928" y="91376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YAMNet</a:t>
            </a:r>
            <a:r>
              <a:rPr dirty="0" spc="35"/>
              <a:t> </a:t>
            </a:r>
            <a:r>
              <a:rPr dirty="0" spc="-10"/>
              <a:t>vs</a:t>
            </a:r>
            <a:r>
              <a:rPr dirty="0" spc="35"/>
              <a:t> </a:t>
            </a:r>
            <a:r>
              <a:rPr dirty="0" spc="60"/>
              <a:t>MFCC-</a:t>
            </a:r>
            <a:r>
              <a:rPr dirty="0" spc="55"/>
              <a:t>LSTM</a:t>
            </a:r>
            <a:r>
              <a:rPr dirty="0" spc="40"/>
              <a:t> </a:t>
            </a:r>
            <a:r>
              <a:rPr dirty="0" spc="-25"/>
              <a:t>Evaluation</a:t>
            </a:r>
            <a:r>
              <a:rPr dirty="0" spc="35"/>
              <a:t> </a:t>
            </a:r>
            <a:r>
              <a:rPr dirty="0" spc="-30"/>
              <a:t>Summary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372452" y="863155"/>
          <a:ext cx="3939540" cy="1051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2245"/>
                <a:gridCol w="1203325"/>
                <a:gridCol w="1203959"/>
              </a:tblGrid>
              <a:tr h="1314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 spc="-10" b="1">
                          <a:latin typeface="Arial"/>
                          <a:cs typeface="Arial"/>
                        </a:rPr>
                        <a:t>Metric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 b="1">
                          <a:latin typeface="Arial"/>
                          <a:cs typeface="Arial"/>
                        </a:rPr>
                        <a:t>YAMNet</a:t>
                      </a:r>
                      <a:r>
                        <a:rPr dirty="0" sz="700" spc="114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 spc="-25" b="1">
                          <a:latin typeface="Arial"/>
                          <a:cs typeface="Arial"/>
                        </a:rPr>
                        <a:t>Transfer</a:t>
                      </a:r>
                      <a:r>
                        <a:rPr dirty="0" sz="700" spc="1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 spc="-10" b="1">
                          <a:latin typeface="Arial"/>
                          <a:cs typeface="Arial"/>
                        </a:rPr>
                        <a:t>Learning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 b="1">
                          <a:latin typeface="Arial"/>
                          <a:cs typeface="Arial"/>
                        </a:rPr>
                        <a:t>MFCC-</a:t>
                      </a:r>
                      <a:r>
                        <a:rPr dirty="0" sz="700" spc="-25" b="1">
                          <a:latin typeface="Arial"/>
                          <a:cs typeface="Arial"/>
                        </a:rPr>
                        <a:t>Based</a:t>
                      </a:r>
                      <a:r>
                        <a:rPr dirty="0" sz="700" spc="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 spc="-20" b="1">
                          <a:latin typeface="Arial"/>
                          <a:cs typeface="Arial"/>
                        </a:rPr>
                        <a:t>LSTM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14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>
                          <a:latin typeface="Arial MT"/>
                          <a:cs typeface="Arial MT"/>
                        </a:rPr>
                        <a:t>Test</a:t>
                      </a:r>
                      <a:r>
                        <a:rPr dirty="0" sz="7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20">
                          <a:latin typeface="Arial MT"/>
                          <a:cs typeface="Arial MT"/>
                        </a:rPr>
                        <a:t>Loss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 spc="-10">
                          <a:latin typeface="Arial MT"/>
                          <a:cs typeface="Arial MT"/>
                        </a:rPr>
                        <a:t>0.0384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 spc="-10">
                          <a:latin typeface="Arial MT"/>
                          <a:cs typeface="Arial MT"/>
                        </a:rPr>
                        <a:t>0.1706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14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>
                          <a:latin typeface="Arial MT"/>
                          <a:cs typeface="Arial MT"/>
                        </a:rPr>
                        <a:t>Test</a:t>
                      </a:r>
                      <a:r>
                        <a:rPr dirty="0" sz="7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latin typeface="Arial MT"/>
                          <a:cs typeface="Arial MT"/>
                        </a:rPr>
                        <a:t>Accuracy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 spc="-10">
                          <a:latin typeface="Arial MT"/>
                          <a:cs typeface="Arial MT"/>
                        </a:rPr>
                        <a:t>98.52%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 spc="-10">
                          <a:latin typeface="Arial MT"/>
                          <a:cs typeface="Arial MT"/>
                        </a:rPr>
                        <a:t>96.04%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14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 spc="-10">
                          <a:latin typeface="Arial MT"/>
                          <a:cs typeface="Arial MT"/>
                        </a:rPr>
                        <a:t>Gunshot</a:t>
                      </a:r>
                      <a:r>
                        <a:rPr dirty="0" sz="70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Correct</a:t>
                      </a:r>
                      <a:r>
                        <a:rPr dirty="0" sz="70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(out</a:t>
                      </a:r>
                      <a:r>
                        <a:rPr dirty="0" sz="70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70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20">
                          <a:latin typeface="Arial MT"/>
                          <a:cs typeface="Arial MT"/>
                        </a:rPr>
                        <a:t>640)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 spc="-25">
                          <a:latin typeface="Arial MT"/>
                          <a:cs typeface="Arial MT"/>
                        </a:rPr>
                        <a:t>636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 spc="-25">
                          <a:latin typeface="Arial MT"/>
                          <a:cs typeface="Arial MT"/>
                        </a:rPr>
                        <a:t>619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14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 spc="-10">
                          <a:latin typeface="Arial MT"/>
                          <a:cs typeface="Arial MT"/>
                        </a:rPr>
                        <a:t>Non-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Gunshot</a:t>
                      </a:r>
                      <a:r>
                        <a:rPr dirty="0" sz="70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Correct</a:t>
                      </a:r>
                      <a:r>
                        <a:rPr dirty="0" sz="70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(out</a:t>
                      </a:r>
                      <a:r>
                        <a:rPr dirty="0" sz="70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70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20">
                          <a:latin typeface="Arial MT"/>
                          <a:cs typeface="Arial MT"/>
                        </a:rPr>
                        <a:t>640)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 spc="-25">
                          <a:latin typeface="Arial MT"/>
                          <a:cs typeface="Arial MT"/>
                        </a:rPr>
                        <a:t>630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 spc="-25">
                          <a:latin typeface="Arial MT"/>
                          <a:cs typeface="Arial MT"/>
                        </a:rPr>
                        <a:t>617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14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>
                          <a:latin typeface="Arial MT"/>
                          <a:cs typeface="Arial MT"/>
                        </a:rPr>
                        <a:t>Total</a:t>
                      </a:r>
                      <a:r>
                        <a:rPr dirty="0" sz="700" spc="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latin typeface="Arial MT"/>
                          <a:cs typeface="Arial MT"/>
                        </a:rPr>
                        <a:t>Misclassifications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 spc="-25">
                          <a:latin typeface="Arial MT"/>
                          <a:cs typeface="Arial MT"/>
                        </a:rPr>
                        <a:t>14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 spc="-25">
                          <a:latin typeface="Arial MT"/>
                          <a:cs typeface="Arial MT"/>
                        </a:rPr>
                        <a:t>44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14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 spc="-10">
                          <a:latin typeface="Arial MT"/>
                          <a:cs typeface="Arial MT"/>
                        </a:rPr>
                        <a:t>Inference</a:t>
                      </a:r>
                      <a:r>
                        <a:rPr dirty="0" sz="7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latin typeface="Arial MT"/>
                          <a:cs typeface="Arial MT"/>
                        </a:rPr>
                        <a:t>Complexity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>
                          <a:latin typeface="Arial MT"/>
                          <a:cs typeface="Arial MT"/>
                        </a:rPr>
                        <a:t>Low</a:t>
                      </a:r>
                      <a:r>
                        <a:rPr dirty="0" sz="7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latin typeface="Arial MT"/>
                          <a:cs typeface="Arial MT"/>
                        </a:rPr>
                        <a:t>(Dense</a:t>
                      </a:r>
                      <a:r>
                        <a:rPr dirty="0" sz="7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latin typeface="Arial MT"/>
                          <a:cs typeface="Arial MT"/>
                        </a:rPr>
                        <a:t>only)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>
                          <a:latin typeface="Arial MT"/>
                          <a:cs typeface="Arial MT"/>
                        </a:rPr>
                        <a:t>Moderate</a:t>
                      </a:r>
                      <a:r>
                        <a:rPr dirty="0" sz="70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(LSTM</a:t>
                      </a:r>
                      <a:r>
                        <a:rPr dirty="0" sz="700" spc="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160"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700" spc="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latin typeface="Arial MT"/>
                          <a:cs typeface="Arial MT"/>
                        </a:rPr>
                        <a:t>Dense)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14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>
                          <a:latin typeface="Arial MT"/>
                          <a:cs typeface="Arial MT"/>
                        </a:rPr>
                        <a:t>FPGA Deployment</a:t>
                      </a:r>
                      <a:r>
                        <a:rPr dirty="0" sz="7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latin typeface="Arial MT"/>
                          <a:cs typeface="Arial MT"/>
                        </a:rPr>
                        <a:t>Suitability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 spc="-20" b="1">
                          <a:latin typeface="Arial"/>
                          <a:cs typeface="Arial"/>
                        </a:rPr>
                        <a:t>High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00" spc="-10">
                          <a:latin typeface="Arial MT"/>
                          <a:cs typeface="Arial MT"/>
                        </a:rPr>
                        <a:t>Medium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212801" y="1990196"/>
            <a:ext cx="4182745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18285" marR="5080" indent="-150622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latin typeface="Arial"/>
                <a:cs typeface="Arial"/>
              </a:rPr>
              <a:t>Conclusion:</a:t>
            </a:r>
            <a:r>
              <a:rPr dirty="0" sz="1000" spc="110" b="1">
                <a:latin typeface="Arial"/>
                <a:cs typeface="Arial"/>
              </a:rPr>
              <a:t> </a:t>
            </a:r>
            <a:r>
              <a:rPr dirty="0" sz="1000" spc="-20">
                <a:latin typeface="Tahoma"/>
                <a:cs typeface="Tahoma"/>
              </a:rPr>
              <a:t>YAMNet-</a:t>
            </a:r>
            <a:r>
              <a:rPr dirty="0" sz="1000">
                <a:latin typeface="Tahoma"/>
                <a:cs typeface="Tahoma"/>
              </a:rPr>
              <a:t>based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model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achieves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higher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accuracy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and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efficiency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for </a:t>
            </a:r>
            <a:r>
              <a:rPr dirty="0" sz="1000" spc="-35">
                <a:latin typeface="Tahoma"/>
                <a:cs typeface="Tahoma"/>
              </a:rPr>
              <a:t>real-</a:t>
            </a:r>
            <a:r>
              <a:rPr dirty="0" sz="1000" spc="-20">
                <a:latin typeface="Tahoma"/>
                <a:cs typeface="Tahoma"/>
              </a:rPr>
              <a:t>time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deployment.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65"/>
              <a:t>MFCC</a:t>
            </a:r>
            <a:r>
              <a:rPr dirty="0" spc="15"/>
              <a:t> </a:t>
            </a:r>
            <a:r>
              <a:rPr dirty="0" spc="70"/>
              <a:t>+</a:t>
            </a:r>
            <a:r>
              <a:rPr dirty="0" spc="25"/>
              <a:t> </a:t>
            </a:r>
            <a:r>
              <a:rPr dirty="0" spc="80"/>
              <a:t>LSTM</a:t>
            </a:r>
            <a:r>
              <a:rPr dirty="0" spc="20"/>
              <a:t> </a:t>
            </a:r>
            <a:r>
              <a:rPr dirty="0"/>
              <a:t>Model</a:t>
            </a:r>
            <a:r>
              <a:rPr dirty="0" spc="25"/>
              <a:t> </a:t>
            </a:r>
            <a:r>
              <a:rPr dirty="0" spc="-45"/>
              <a:t>Performance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3830" y="575327"/>
            <a:ext cx="4202430" cy="5892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MFCC-LSTM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model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achieved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strong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accuracy,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though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with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slightly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higher </a:t>
            </a:r>
            <a:r>
              <a:rPr dirty="0" sz="1000" spc="-25">
                <a:latin typeface="Tahoma"/>
                <a:cs typeface="Tahoma"/>
              </a:rPr>
              <a:t>loss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slower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convergence.</a:t>
            </a:r>
            <a:endParaRPr sz="1000">
              <a:latin typeface="Tahoma"/>
              <a:cs typeface="Tahoma"/>
            </a:endParaRPr>
          </a:p>
          <a:p>
            <a:pPr algn="ctr" marL="178435">
              <a:lnSpc>
                <a:spcPct val="100000"/>
              </a:lnSpc>
              <a:spcBef>
                <a:spcPts val="840"/>
              </a:spcBef>
            </a:pPr>
            <a:r>
              <a:rPr dirty="0" sz="1000" spc="-35" b="1">
                <a:latin typeface="Arial"/>
                <a:cs typeface="Arial"/>
              </a:rPr>
              <a:t>Accuracy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and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80" b="1">
                <a:latin typeface="Arial"/>
                <a:cs typeface="Arial"/>
              </a:rPr>
              <a:t>Loss</a:t>
            </a:r>
            <a:r>
              <a:rPr dirty="0" sz="1000" spc="1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Curves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2335" y="1276710"/>
            <a:ext cx="2850962" cy="130354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44308" y="2735699"/>
            <a:ext cx="31197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18639" algn="l"/>
                <a:tab pos="2113915" algn="l"/>
              </a:tabLst>
            </a:pPr>
            <a:r>
              <a:rPr dirty="0" sz="1000" spc="-10" b="1">
                <a:latin typeface="Arial"/>
                <a:cs typeface="Arial"/>
              </a:rPr>
              <a:t>Final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Test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Accuracy:</a:t>
            </a:r>
            <a:r>
              <a:rPr dirty="0" sz="1000" spc="65" b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96.04%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30">
                <a:latin typeface="Tahoma"/>
                <a:cs typeface="Tahoma"/>
              </a:rPr>
              <a:t>—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b="1">
                <a:latin typeface="Arial"/>
                <a:cs typeface="Arial"/>
              </a:rPr>
              <a:t>Test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spc="-55" b="1">
                <a:latin typeface="Arial"/>
                <a:cs typeface="Arial"/>
              </a:rPr>
              <a:t>Loss: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spc="-40">
                <a:latin typeface="Tahoma"/>
                <a:cs typeface="Tahoma"/>
              </a:rPr>
              <a:t>0.1706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729" y="1293761"/>
            <a:ext cx="4507865" cy="473075"/>
            <a:chOff x="75729" y="1293761"/>
            <a:chExt cx="4507865" cy="473075"/>
          </a:xfrm>
        </p:grpSpPr>
        <p:sp>
          <p:nvSpPr>
            <p:cNvPr id="3" name="object 3" descr=""/>
            <p:cNvSpPr/>
            <p:nvPr/>
          </p:nvSpPr>
          <p:spPr>
            <a:xfrm>
              <a:off x="75729" y="1293761"/>
              <a:ext cx="4457065" cy="82550"/>
            </a:xfrm>
            <a:custGeom>
              <a:avLst/>
              <a:gdLst/>
              <a:ahLst/>
              <a:cxnLst/>
              <a:rect l="l" t="t" r="r" b="b"/>
              <a:pathLst>
                <a:path w="4457065" h="82550">
                  <a:moveTo>
                    <a:pt x="440580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56606" y="82384"/>
                  </a:lnTo>
                  <a:lnTo>
                    <a:pt x="4456606" y="50800"/>
                  </a:lnTo>
                  <a:lnTo>
                    <a:pt x="4452598" y="31075"/>
                  </a:lnTo>
                  <a:lnTo>
                    <a:pt x="4441684" y="14922"/>
                  </a:lnTo>
                  <a:lnTo>
                    <a:pt x="4425531" y="4008"/>
                  </a:lnTo>
                  <a:lnTo>
                    <a:pt x="4405806" y="0"/>
                  </a:lnTo>
                  <a:close/>
                </a:path>
              </a:pathLst>
            </a:custGeom>
            <a:solidFill>
              <a:srgbClr val="F77F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6530" y="1357018"/>
              <a:ext cx="4457065" cy="409575"/>
            </a:xfrm>
            <a:custGeom>
              <a:avLst/>
              <a:gdLst/>
              <a:ahLst/>
              <a:cxnLst/>
              <a:rect l="l" t="t" r="r" b="b"/>
              <a:pathLst>
                <a:path w="4457065" h="409575">
                  <a:moveTo>
                    <a:pt x="4456607" y="0"/>
                  </a:moveTo>
                  <a:lnTo>
                    <a:pt x="0" y="0"/>
                  </a:lnTo>
                  <a:lnTo>
                    <a:pt x="0" y="409578"/>
                  </a:lnTo>
                  <a:lnTo>
                    <a:pt x="4456607" y="409578"/>
                  </a:lnTo>
                  <a:lnTo>
                    <a:pt x="44566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5729" y="1338181"/>
              <a:ext cx="4457065" cy="377825"/>
            </a:xfrm>
            <a:custGeom>
              <a:avLst/>
              <a:gdLst/>
              <a:ahLst/>
              <a:cxnLst/>
              <a:rect l="l" t="t" r="r" b="b"/>
              <a:pathLst>
                <a:path w="4457065" h="377825">
                  <a:moveTo>
                    <a:pt x="4456606" y="0"/>
                  </a:moveTo>
                  <a:lnTo>
                    <a:pt x="0" y="0"/>
                  </a:lnTo>
                  <a:lnTo>
                    <a:pt x="0" y="326814"/>
                  </a:lnTo>
                  <a:lnTo>
                    <a:pt x="4008" y="346538"/>
                  </a:lnTo>
                  <a:lnTo>
                    <a:pt x="14922" y="362691"/>
                  </a:lnTo>
                  <a:lnTo>
                    <a:pt x="31075" y="373606"/>
                  </a:lnTo>
                  <a:lnTo>
                    <a:pt x="50800" y="377614"/>
                  </a:lnTo>
                  <a:lnTo>
                    <a:pt x="4405806" y="377614"/>
                  </a:lnTo>
                  <a:lnTo>
                    <a:pt x="4425531" y="373606"/>
                  </a:lnTo>
                  <a:lnTo>
                    <a:pt x="4441684" y="362691"/>
                  </a:lnTo>
                  <a:lnTo>
                    <a:pt x="4452598" y="346538"/>
                  </a:lnTo>
                  <a:lnTo>
                    <a:pt x="4456606" y="326814"/>
                  </a:lnTo>
                  <a:lnTo>
                    <a:pt x="4456606" y="0"/>
                  </a:lnTo>
                  <a:close/>
                </a:path>
              </a:pathLst>
            </a:custGeom>
            <a:solidFill>
              <a:srgbClr val="F77F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26530" y="1357018"/>
            <a:ext cx="4457065" cy="40957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 marR="93980">
              <a:lnSpc>
                <a:spcPct val="100000"/>
              </a:lnSpc>
              <a:spcBef>
                <a:spcPts val="475"/>
              </a:spcBef>
            </a:pPr>
            <a:r>
              <a:rPr dirty="0" sz="1200" spc="-10">
                <a:latin typeface="Tahoma"/>
                <a:cs typeface="Tahoma"/>
                <a:hlinkClick r:id="rId2" action="ppaction://hlinksldjump"/>
              </a:rPr>
              <a:t>Model</a:t>
            </a:r>
            <a:r>
              <a:rPr dirty="0" sz="1200" spc="-80"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1200" spc="-10">
                <a:latin typeface="Tahoma"/>
                <a:cs typeface="Tahoma"/>
                <a:hlinkClick r:id="rId2" action="ppaction://hlinksldjump"/>
              </a:rPr>
              <a:t>Advancements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0" y="3364623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91376"/>
                </a:lnTo>
                <a:lnTo>
                  <a:pt x="1535963" y="91376"/>
                </a:lnTo>
                <a:lnTo>
                  <a:pt x="3071939" y="91376"/>
                </a:lnTo>
                <a:lnTo>
                  <a:pt x="4607928" y="91376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364623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91376"/>
                </a:lnTo>
                <a:lnTo>
                  <a:pt x="1535976" y="91376"/>
                </a:lnTo>
                <a:lnTo>
                  <a:pt x="3071952" y="91376"/>
                </a:lnTo>
                <a:lnTo>
                  <a:pt x="4607928" y="91376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Model</a:t>
            </a:r>
            <a:r>
              <a:rPr dirty="0" spc="-30"/>
              <a:t> </a:t>
            </a:r>
            <a:r>
              <a:rPr dirty="0" spc="-20"/>
              <a:t>Architecture</a:t>
            </a:r>
            <a:r>
              <a:rPr dirty="0" spc="-30"/>
              <a:t> </a:t>
            </a:r>
            <a:r>
              <a:rPr dirty="0" spc="-40"/>
              <a:t>Overview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1386243"/>
            <a:ext cx="59601" cy="5960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576031"/>
            <a:ext cx="59601" cy="596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765820"/>
            <a:ext cx="59601" cy="5960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2107438"/>
            <a:ext cx="59601" cy="5960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705" y="2449055"/>
            <a:ext cx="59601" cy="5960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13830" y="707700"/>
            <a:ext cx="4369435" cy="1993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13664">
              <a:lnSpc>
                <a:spcPct val="100000"/>
              </a:lnSpc>
              <a:spcBef>
                <a:spcPts val="95"/>
              </a:spcBef>
            </a:pPr>
            <a:r>
              <a:rPr dirty="0" sz="1000" spc="-20" b="1">
                <a:latin typeface="Arial"/>
                <a:cs typeface="Arial"/>
              </a:rPr>
              <a:t>Goal:</a:t>
            </a:r>
            <a:r>
              <a:rPr dirty="0" sz="1000" spc="110" b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Enhance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gunshot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detection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by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combining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spectral–temporal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learning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with attention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mechanisms.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000" b="1">
                <a:latin typeface="Arial"/>
                <a:cs typeface="Arial"/>
              </a:rPr>
              <a:t>Model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Highlights:</a:t>
            </a:r>
            <a:endParaRPr sz="10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dirty="0" sz="1000" b="1">
                <a:latin typeface="Arial"/>
                <a:cs typeface="Arial"/>
              </a:rPr>
              <a:t>CNN14</a:t>
            </a:r>
            <a:r>
              <a:rPr dirty="0" sz="1000" spc="9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(PANNs):</a:t>
            </a:r>
            <a:r>
              <a:rPr dirty="0" sz="1000" spc="165" b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Extracts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deep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log-</a:t>
            </a:r>
            <a:r>
              <a:rPr dirty="0" sz="1000">
                <a:latin typeface="Tahoma"/>
                <a:cs typeface="Tahoma"/>
              </a:rPr>
              <a:t>Mel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spectral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embeddings.</a:t>
            </a:r>
            <a:endParaRPr sz="1000">
              <a:latin typeface="Tahoma"/>
              <a:cs typeface="Tahom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dirty="0" sz="1000" b="1">
                <a:latin typeface="Arial"/>
                <a:cs typeface="Arial"/>
              </a:rPr>
              <a:t>BiLSTM:</a:t>
            </a:r>
            <a:r>
              <a:rPr dirty="0" sz="1000" spc="65" b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Captures</a:t>
            </a:r>
            <a:r>
              <a:rPr dirty="0" sz="1000" spc="3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forward–backward</a:t>
            </a:r>
            <a:r>
              <a:rPr dirty="0" sz="1000" spc="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temporal</a:t>
            </a:r>
            <a:r>
              <a:rPr dirty="0" sz="1000" spc="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dependencies.</a:t>
            </a:r>
            <a:endParaRPr sz="1000">
              <a:latin typeface="Tahoma"/>
              <a:cs typeface="Tahoma"/>
            </a:endParaRPr>
          </a:p>
          <a:p>
            <a:pPr marL="265430" marR="252095">
              <a:lnSpc>
                <a:spcPct val="100000"/>
              </a:lnSpc>
              <a:spcBef>
                <a:spcPts val="295"/>
              </a:spcBef>
            </a:pPr>
            <a:r>
              <a:rPr dirty="0" sz="1000" b="1">
                <a:latin typeface="Arial"/>
                <a:cs typeface="Arial"/>
              </a:rPr>
              <a:t>Attention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Layer:</a:t>
            </a:r>
            <a:r>
              <a:rPr dirty="0" sz="1000" spc="100" b="1">
                <a:latin typeface="Arial"/>
                <a:cs typeface="Arial"/>
              </a:rPr>
              <a:t> </a:t>
            </a:r>
            <a:r>
              <a:rPr dirty="0" sz="1000" spc="-40">
                <a:latin typeface="Tahoma"/>
                <a:cs typeface="Tahoma"/>
              </a:rPr>
              <a:t>Focuses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key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temporal </a:t>
            </a:r>
            <a:r>
              <a:rPr dirty="0" sz="1000" spc="-40">
                <a:latin typeface="Tahoma"/>
                <a:cs typeface="Tahoma"/>
              </a:rPr>
              <a:t>frames,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70">
                <a:latin typeface="Tahoma"/>
                <a:cs typeface="Tahoma"/>
              </a:rPr>
              <a:t>suppresses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silence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or </a:t>
            </a:r>
            <a:r>
              <a:rPr dirty="0" sz="1000" spc="-40">
                <a:latin typeface="Tahoma"/>
                <a:cs typeface="Tahoma"/>
              </a:rPr>
              <a:t>background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noise.</a:t>
            </a:r>
            <a:endParaRPr sz="1000">
              <a:latin typeface="Tahoma"/>
              <a:cs typeface="Tahoma"/>
            </a:endParaRPr>
          </a:p>
          <a:p>
            <a:pPr marL="265430" marR="5080">
              <a:lnSpc>
                <a:spcPct val="100000"/>
              </a:lnSpc>
              <a:spcBef>
                <a:spcPts val="290"/>
              </a:spcBef>
            </a:pPr>
            <a:r>
              <a:rPr dirty="0" sz="1000" spc="-25" b="1">
                <a:latin typeface="Arial"/>
                <a:cs typeface="Arial"/>
              </a:rPr>
              <a:t>Dense</a:t>
            </a:r>
            <a:r>
              <a:rPr dirty="0" sz="1000" spc="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Head:</a:t>
            </a:r>
            <a:r>
              <a:rPr dirty="0" sz="1000" spc="90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Fully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connected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layers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with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128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64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ReLU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units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dropout for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regularization.</a:t>
            </a:r>
            <a:endParaRPr sz="1000">
              <a:latin typeface="Tahoma"/>
              <a:cs typeface="Tahoma"/>
            </a:endParaRPr>
          </a:p>
          <a:p>
            <a:pPr marL="265430" marR="349885">
              <a:lnSpc>
                <a:spcPct val="100000"/>
              </a:lnSpc>
              <a:spcBef>
                <a:spcPts val="290"/>
              </a:spcBef>
            </a:pPr>
            <a:r>
              <a:rPr dirty="0" sz="1000" b="1">
                <a:latin typeface="Arial"/>
                <a:cs typeface="Arial"/>
              </a:rPr>
              <a:t>Output</a:t>
            </a:r>
            <a:r>
              <a:rPr dirty="0" sz="1000" spc="45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Layer:</a:t>
            </a:r>
            <a:r>
              <a:rPr dirty="0" sz="1000" spc="114" b="1">
                <a:latin typeface="Arial"/>
                <a:cs typeface="Arial"/>
              </a:rPr>
              <a:t> </a:t>
            </a:r>
            <a:r>
              <a:rPr dirty="0" sz="1000" spc="-20">
                <a:latin typeface="Tahoma"/>
                <a:cs typeface="Tahoma"/>
              </a:rPr>
              <a:t>Softmax activation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producing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Gunshot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105">
                <a:latin typeface="Tahoma"/>
                <a:cs typeface="Tahoma"/>
              </a:rPr>
              <a:t>/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Non-</a:t>
            </a:r>
            <a:r>
              <a:rPr dirty="0" sz="1000" spc="-10">
                <a:latin typeface="Tahoma"/>
                <a:cs typeface="Tahoma"/>
              </a:rPr>
              <a:t>Gunshot classification.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364623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91376"/>
                </a:lnTo>
                <a:lnTo>
                  <a:pt x="1535976" y="91376"/>
                </a:lnTo>
                <a:lnTo>
                  <a:pt x="3071952" y="91376"/>
                </a:lnTo>
                <a:lnTo>
                  <a:pt x="4607928" y="91376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72527"/>
            <a:ext cx="220408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F77F25"/>
                </a:solidFill>
                <a:latin typeface="Tahoma"/>
                <a:cs typeface="Tahoma"/>
              </a:rPr>
              <a:t>Proposed</a:t>
            </a:r>
            <a:r>
              <a:rPr dirty="0" sz="1400" spc="-35">
                <a:solidFill>
                  <a:srgbClr val="F77F25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77F25"/>
                </a:solidFill>
                <a:latin typeface="Tahoma"/>
                <a:cs typeface="Tahoma"/>
              </a:rPr>
              <a:t>Model</a:t>
            </a:r>
            <a:r>
              <a:rPr dirty="0" sz="1400" spc="-35">
                <a:solidFill>
                  <a:srgbClr val="F77F25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77F25"/>
                </a:solidFill>
                <a:latin typeface="Tahoma"/>
                <a:cs typeface="Tahoma"/>
              </a:rPr>
              <a:t>Architecture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0111" y="616562"/>
            <a:ext cx="2007808" cy="216007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13497" y="2935201"/>
            <a:ext cx="21812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Arial MT"/>
                <a:cs typeface="Arial MT"/>
              </a:rPr>
              <a:t>CNN14</a:t>
            </a:r>
            <a:r>
              <a:rPr dirty="0" sz="350" spc="430">
                <a:latin typeface="Times New Roman"/>
                <a:cs typeface="Times New Roman"/>
              </a:rPr>
              <a:t>  </a:t>
            </a:r>
            <a:r>
              <a:rPr dirty="0" sz="700">
                <a:latin typeface="Arial MT"/>
                <a:cs typeface="Arial MT"/>
              </a:rPr>
              <a:t>BiLSTM</a:t>
            </a:r>
            <a:r>
              <a:rPr dirty="0" sz="350" spc="430">
                <a:latin typeface="Times New Roman"/>
                <a:cs typeface="Times New Roman"/>
              </a:rPr>
              <a:t>  </a:t>
            </a:r>
            <a:r>
              <a:rPr dirty="0" sz="700">
                <a:latin typeface="Arial MT"/>
                <a:cs typeface="Arial MT"/>
              </a:rPr>
              <a:t>Attention</a:t>
            </a:r>
            <a:r>
              <a:rPr dirty="0" sz="350" spc="430">
                <a:latin typeface="Times New Roman"/>
                <a:cs typeface="Times New Roman"/>
              </a:rPr>
              <a:t>  </a:t>
            </a:r>
            <a:r>
              <a:rPr dirty="0" sz="700">
                <a:latin typeface="Arial MT"/>
                <a:cs typeface="Arial MT"/>
              </a:rPr>
              <a:t>Dense</a:t>
            </a:r>
            <a:r>
              <a:rPr dirty="0" sz="350" spc="434">
                <a:latin typeface="Times New Roman"/>
                <a:cs typeface="Times New Roman"/>
              </a:rPr>
              <a:t>  </a:t>
            </a:r>
            <a:r>
              <a:rPr dirty="0" sz="700" spc="-10">
                <a:latin typeface="Arial MT"/>
                <a:cs typeface="Arial MT"/>
              </a:rPr>
              <a:t>Output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729" y="1293761"/>
            <a:ext cx="4507865" cy="473075"/>
            <a:chOff x="75729" y="1293761"/>
            <a:chExt cx="4507865" cy="473075"/>
          </a:xfrm>
        </p:grpSpPr>
        <p:sp>
          <p:nvSpPr>
            <p:cNvPr id="3" name="object 3" descr=""/>
            <p:cNvSpPr/>
            <p:nvPr/>
          </p:nvSpPr>
          <p:spPr>
            <a:xfrm>
              <a:off x="75729" y="1293761"/>
              <a:ext cx="4457065" cy="82550"/>
            </a:xfrm>
            <a:custGeom>
              <a:avLst/>
              <a:gdLst/>
              <a:ahLst/>
              <a:cxnLst/>
              <a:rect l="l" t="t" r="r" b="b"/>
              <a:pathLst>
                <a:path w="4457065" h="82550">
                  <a:moveTo>
                    <a:pt x="440580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56606" y="82384"/>
                  </a:lnTo>
                  <a:lnTo>
                    <a:pt x="4456606" y="50800"/>
                  </a:lnTo>
                  <a:lnTo>
                    <a:pt x="4452598" y="31075"/>
                  </a:lnTo>
                  <a:lnTo>
                    <a:pt x="4441684" y="14922"/>
                  </a:lnTo>
                  <a:lnTo>
                    <a:pt x="4425531" y="4008"/>
                  </a:lnTo>
                  <a:lnTo>
                    <a:pt x="4405806" y="0"/>
                  </a:lnTo>
                  <a:close/>
                </a:path>
              </a:pathLst>
            </a:custGeom>
            <a:solidFill>
              <a:srgbClr val="F77F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6530" y="1357018"/>
              <a:ext cx="4457065" cy="409575"/>
            </a:xfrm>
            <a:custGeom>
              <a:avLst/>
              <a:gdLst/>
              <a:ahLst/>
              <a:cxnLst/>
              <a:rect l="l" t="t" r="r" b="b"/>
              <a:pathLst>
                <a:path w="4457065" h="409575">
                  <a:moveTo>
                    <a:pt x="4456607" y="0"/>
                  </a:moveTo>
                  <a:lnTo>
                    <a:pt x="0" y="0"/>
                  </a:lnTo>
                  <a:lnTo>
                    <a:pt x="0" y="409578"/>
                  </a:lnTo>
                  <a:lnTo>
                    <a:pt x="4456607" y="409578"/>
                  </a:lnTo>
                  <a:lnTo>
                    <a:pt x="44566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5729" y="1338181"/>
              <a:ext cx="4457065" cy="377825"/>
            </a:xfrm>
            <a:custGeom>
              <a:avLst/>
              <a:gdLst/>
              <a:ahLst/>
              <a:cxnLst/>
              <a:rect l="l" t="t" r="r" b="b"/>
              <a:pathLst>
                <a:path w="4457065" h="377825">
                  <a:moveTo>
                    <a:pt x="4456606" y="0"/>
                  </a:moveTo>
                  <a:lnTo>
                    <a:pt x="0" y="0"/>
                  </a:lnTo>
                  <a:lnTo>
                    <a:pt x="0" y="326814"/>
                  </a:lnTo>
                  <a:lnTo>
                    <a:pt x="4008" y="346538"/>
                  </a:lnTo>
                  <a:lnTo>
                    <a:pt x="14922" y="362691"/>
                  </a:lnTo>
                  <a:lnTo>
                    <a:pt x="31075" y="373606"/>
                  </a:lnTo>
                  <a:lnTo>
                    <a:pt x="50800" y="377614"/>
                  </a:lnTo>
                  <a:lnTo>
                    <a:pt x="4405806" y="377614"/>
                  </a:lnTo>
                  <a:lnTo>
                    <a:pt x="4425531" y="373606"/>
                  </a:lnTo>
                  <a:lnTo>
                    <a:pt x="4441684" y="362691"/>
                  </a:lnTo>
                  <a:lnTo>
                    <a:pt x="4452598" y="346538"/>
                  </a:lnTo>
                  <a:lnTo>
                    <a:pt x="4456606" y="326814"/>
                  </a:lnTo>
                  <a:lnTo>
                    <a:pt x="4456606" y="0"/>
                  </a:lnTo>
                  <a:close/>
                </a:path>
              </a:pathLst>
            </a:custGeom>
            <a:solidFill>
              <a:srgbClr val="F77F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26530" y="1357018"/>
            <a:ext cx="4457065" cy="40957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 marR="93980">
              <a:lnSpc>
                <a:spcPct val="100000"/>
              </a:lnSpc>
              <a:spcBef>
                <a:spcPts val="475"/>
              </a:spcBef>
            </a:pPr>
            <a:r>
              <a:rPr dirty="0" sz="1200" spc="-10">
                <a:latin typeface="Tahoma"/>
                <a:cs typeface="Tahoma"/>
                <a:hlinkClick r:id="rId2" action="ppaction://hlinksldjump"/>
              </a:rPr>
              <a:t>References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0" y="3364623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91376"/>
                </a:lnTo>
                <a:lnTo>
                  <a:pt x="1535963" y="91376"/>
                </a:lnTo>
                <a:lnTo>
                  <a:pt x="3071939" y="91376"/>
                </a:lnTo>
                <a:lnTo>
                  <a:pt x="4607928" y="91376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364623"/>
            <a:ext cx="4608195" cy="91440"/>
          </a:xfrm>
          <a:custGeom>
            <a:avLst/>
            <a:gdLst/>
            <a:ahLst/>
            <a:cxnLst/>
            <a:rect l="l" t="t" r="r" b="b"/>
            <a:pathLst>
              <a:path w="4608195" h="91439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91376"/>
                </a:lnTo>
                <a:lnTo>
                  <a:pt x="1535976" y="91376"/>
                </a:lnTo>
                <a:lnTo>
                  <a:pt x="3071952" y="91376"/>
                </a:lnTo>
                <a:lnTo>
                  <a:pt x="4607928" y="91376"/>
                </a:lnTo>
                <a:lnTo>
                  <a:pt x="4607928" y="0"/>
                </a:lnTo>
                <a:close/>
              </a:path>
            </a:pathLst>
          </a:custGeom>
          <a:solidFill>
            <a:srgbClr val="F77F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92011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70"/>
              <a:t>References</a:t>
            </a:r>
            <a:r>
              <a:rPr dirty="0" spc="45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222250" marR="152400" indent="-189865">
              <a:lnSpc>
                <a:spcPct val="101499"/>
              </a:lnSpc>
              <a:spcBef>
                <a:spcPts val="80"/>
              </a:spcBef>
              <a:buFont typeface="Tahoma"/>
              <a:buAutoNum type="arabicPlain"/>
              <a:tabLst>
                <a:tab pos="222885" algn="l"/>
              </a:tabLst>
            </a:pPr>
            <a:r>
              <a:rPr dirty="0"/>
              <a:t>Xinzhang</a:t>
            </a:r>
            <a:r>
              <a:rPr dirty="0" spc="-15"/>
              <a:t> </a:t>
            </a:r>
            <a:r>
              <a:rPr dirty="0"/>
              <a:t>Xiong,</a:t>
            </a:r>
            <a:r>
              <a:rPr dirty="0" spc="-10"/>
              <a:t> </a:t>
            </a:r>
            <a:r>
              <a:rPr dirty="0"/>
              <a:t>“Real-time</a:t>
            </a:r>
            <a:r>
              <a:rPr dirty="0" spc="-10"/>
              <a:t> Gunshot</a:t>
            </a:r>
            <a:r>
              <a:rPr dirty="0" spc="-15"/>
              <a:t> </a:t>
            </a:r>
            <a:r>
              <a:rPr dirty="0"/>
              <a:t>Detection</a:t>
            </a:r>
            <a:r>
              <a:rPr dirty="0" spc="-10"/>
              <a:t> System </a:t>
            </a:r>
            <a:r>
              <a:rPr dirty="0" spc="-25"/>
              <a:t>Integration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 spc="-10"/>
              <a:t>Camera Surveillance</a:t>
            </a:r>
            <a:r>
              <a:rPr dirty="0"/>
              <a:t> System”,</a:t>
            </a:r>
            <a:r>
              <a:rPr dirty="0" spc="5"/>
              <a:t> </a:t>
            </a:r>
            <a:r>
              <a:rPr dirty="0" spc="-20"/>
              <a:t>Pennsylvania</a:t>
            </a:r>
            <a:r>
              <a:rPr dirty="0" spc="5"/>
              <a:t> </a:t>
            </a:r>
            <a:r>
              <a:rPr dirty="0"/>
              <a:t>State</a:t>
            </a:r>
            <a:r>
              <a:rPr dirty="0" spc="5"/>
              <a:t> </a:t>
            </a:r>
            <a:r>
              <a:rPr dirty="0" spc="-20"/>
              <a:t>University,</a:t>
            </a:r>
            <a:r>
              <a:rPr dirty="0" spc="5"/>
              <a:t> </a:t>
            </a:r>
            <a:r>
              <a:rPr dirty="0"/>
              <a:t>State</a:t>
            </a:r>
            <a:r>
              <a:rPr dirty="0" spc="5"/>
              <a:t> </a:t>
            </a:r>
            <a:r>
              <a:rPr dirty="0" spc="-10"/>
              <a:t>College,</a:t>
            </a:r>
            <a:r>
              <a:rPr dirty="0" spc="5"/>
              <a:t> </a:t>
            </a:r>
            <a:r>
              <a:rPr dirty="0"/>
              <a:t>USA.</a:t>
            </a:r>
            <a:r>
              <a:rPr dirty="0" spc="5"/>
              <a:t> </a:t>
            </a:r>
            <a:r>
              <a:rPr dirty="0" spc="-10"/>
              <a:t>Email: </a:t>
            </a:r>
            <a:r>
              <a:rPr dirty="0" spc="-10">
                <a:hlinkClick r:id="rId2"/>
              </a:rPr>
              <a:t>xpx5059@psu.edu</a:t>
            </a:r>
          </a:p>
          <a:p>
            <a:pPr marL="222250" marR="271145" indent="-189865">
              <a:lnSpc>
                <a:spcPct val="101499"/>
              </a:lnSpc>
              <a:spcBef>
                <a:spcPts val="355"/>
              </a:spcBef>
              <a:buAutoNum type="arabicPlain"/>
              <a:tabLst>
                <a:tab pos="222885" algn="l"/>
              </a:tabLst>
            </a:pPr>
            <a:r>
              <a:rPr dirty="0" spc="-10"/>
              <a:t>Google</a:t>
            </a:r>
            <a:r>
              <a:rPr dirty="0" spc="20"/>
              <a:t> </a:t>
            </a:r>
            <a:r>
              <a:rPr dirty="0" spc="-30"/>
              <a:t>Research,</a:t>
            </a:r>
            <a:r>
              <a:rPr dirty="0" spc="20"/>
              <a:t> </a:t>
            </a:r>
            <a:r>
              <a:rPr dirty="0" i="1">
                <a:latin typeface="Arial"/>
                <a:cs typeface="Arial"/>
              </a:rPr>
              <a:t>“YAMNet:</a:t>
            </a:r>
            <a:r>
              <a:rPr dirty="0" spc="155" i="1">
                <a:latin typeface="Arial"/>
                <a:cs typeface="Arial"/>
              </a:rPr>
              <a:t> </a:t>
            </a:r>
            <a:r>
              <a:rPr dirty="0" spc="-20" i="1">
                <a:latin typeface="Arial"/>
                <a:cs typeface="Arial"/>
              </a:rPr>
              <a:t>Pretrained</a:t>
            </a:r>
            <a:r>
              <a:rPr dirty="0" spc="5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Audio</a:t>
            </a:r>
            <a:r>
              <a:rPr dirty="0" spc="50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Event</a:t>
            </a:r>
            <a:r>
              <a:rPr dirty="0" spc="55" i="1">
                <a:latin typeface="Arial"/>
                <a:cs typeface="Arial"/>
              </a:rPr>
              <a:t> </a:t>
            </a:r>
            <a:r>
              <a:rPr dirty="0" spc="-25" i="1">
                <a:latin typeface="Arial"/>
                <a:cs typeface="Arial"/>
              </a:rPr>
              <a:t>Classification</a:t>
            </a:r>
            <a:r>
              <a:rPr dirty="0" spc="50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Network”</a:t>
            </a:r>
            <a:r>
              <a:rPr dirty="0" spc="-10"/>
              <a:t>, </a:t>
            </a:r>
            <a:r>
              <a:rPr dirty="0"/>
              <a:t>Available</a:t>
            </a:r>
            <a:r>
              <a:rPr dirty="0" spc="-35"/>
              <a:t> </a:t>
            </a:r>
            <a:r>
              <a:rPr dirty="0"/>
              <a:t>at:</a:t>
            </a:r>
            <a:r>
              <a:rPr dirty="0" spc="55"/>
              <a:t> </a:t>
            </a:r>
            <a:r>
              <a:rPr dirty="0" spc="100">
                <a:latin typeface="Calibri"/>
                <a:cs typeface="Calibri"/>
                <a:hlinkClick r:id="rId3"/>
              </a:rPr>
              <a:t>https:</a:t>
            </a:r>
          </a:p>
          <a:p>
            <a:pPr marL="222250">
              <a:lnSpc>
                <a:spcPct val="100000"/>
              </a:lnSpc>
              <a:spcBef>
                <a:spcPts val="15"/>
              </a:spcBef>
            </a:pPr>
            <a:r>
              <a:rPr dirty="0" spc="50">
                <a:latin typeface="Calibri"/>
                <a:cs typeface="Calibri"/>
                <a:hlinkClick r:id="rId3"/>
              </a:rPr>
              <a:t>//github.com/tensorflow/models/tree/master/research/audioset/yamnet</a:t>
            </a:r>
          </a:p>
          <a:p>
            <a:pPr marL="222250" marR="5080" indent="-189865">
              <a:lnSpc>
                <a:spcPct val="101499"/>
              </a:lnSpc>
              <a:spcBef>
                <a:spcPts val="350"/>
              </a:spcBef>
              <a:buAutoNum type="arabicPlain" startAt="3"/>
              <a:tabLst>
                <a:tab pos="222885" algn="l"/>
              </a:tabLst>
            </a:pPr>
            <a:r>
              <a:rPr dirty="0"/>
              <a:t>Kong,</a:t>
            </a:r>
            <a:r>
              <a:rPr dirty="0" spc="-15"/>
              <a:t> </a:t>
            </a:r>
            <a:r>
              <a:rPr dirty="0" spc="-10"/>
              <a:t>Qiuqiang, </a:t>
            </a:r>
            <a:r>
              <a:rPr dirty="0"/>
              <a:t>et</a:t>
            </a:r>
            <a:r>
              <a:rPr dirty="0" spc="-10"/>
              <a:t> </a:t>
            </a:r>
            <a:r>
              <a:rPr dirty="0"/>
              <a:t>al.</a:t>
            </a:r>
            <a:r>
              <a:rPr dirty="0" spc="-15"/>
              <a:t> </a:t>
            </a:r>
            <a:r>
              <a:rPr dirty="0" i="1">
                <a:latin typeface="Arial"/>
                <a:cs typeface="Arial"/>
              </a:rPr>
              <a:t>“PANNs:</a:t>
            </a:r>
            <a:r>
              <a:rPr dirty="0" spc="114" i="1">
                <a:latin typeface="Arial"/>
                <a:cs typeface="Arial"/>
              </a:rPr>
              <a:t> </a:t>
            </a:r>
            <a:r>
              <a:rPr dirty="0" spc="-50" i="1">
                <a:latin typeface="Arial"/>
                <a:cs typeface="Arial"/>
              </a:rPr>
              <a:t>Large-</a:t>
            </a:r>
            <a:r>
              <a:rPr dirty="0" spc="-30" i="1">
                <a:latin typeface="Arial"/>
                <a:cs typeface="Arial"/>
              </a:rPr>
              <a:t>Scale</a:t>
            </a:r>
            <a:r>
              <a:rPr dirty="0" spc="20" i="1">
                <a:latin typeface="Arial"/>
                <a:cs typeface="Arial"/>
              </a:rPr>
              <a:t> </a:t>
            </a:r>
            <a:r>
              <a:rPr dirty="0" spc="-20" i="1">
                <a:latin typeface="Arial"/>
                <a:cs typeface="Arial"/>
              </a:rPr>
              <a:t>Pretrained</a:t>
            </a:r>
            <a:r>
              <a:rPr dirty="0" spc="2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Audio</a:t>
            </a:r>
            <a:r>
              <a:rPr dirty="0" spc="20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Neural</a:t>
            </a:r>
            <a:r>
              <a:rPr dirty="0" spc="15" i="1">
                <a:latin typeface="Arial"/>
                <a:cs typeface="Arial"/>
              </a:rPr>
              <a:t> </a:t>
            </a:r>
            <a:r>
              <a:rPr dirty="0" spc="-25" i="1">
                <a:latin typeface="Arial"/>
                <a:cs typeface="Arial"/>
              </a:rPr>
              <a:t>Networks</a:t>
            </a:r>
            <a:r>
              <a:rPr dirty="0" spc="20" i="1">
                <a:latin typeface="Arial"/>
                <a:cs typeface="Arial"/>
              </a:rPr>
              <a:t> </a:t>
            </a:r>
            <a:r>
              <a:rPr dirty="0" spc="-25" i="1">
                <a:latin typeface="Arial"/>
                <a:cs typeface="Arial"/>
              </a:rPr>
              <a:t>for </a:t>
            </a:r>
            <a:r>
              <a:rPr dirty="0" i="1">
                <a:latin typeface="Arial"/>
                <a:cs typeface="Arial"/>
              </a:rPr>
              <a:t>Audio</a:t>
            </a:r>
            <a:r>
              <a:rPr dirty="0" spc="6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Pattern</a:t>
            </a:r>
            <a:r>
              <a:rPr dirty="0" spc="65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Recognition”</a:t>
            </a:r>
            <a:r>
              <a:rPr dirty="0" spc="-10"/>
              <a:t>,</a:t>
            </a:r>
            <a:r>
              <a:rPr dirty="0" spc="30"/>
              <a:t> </a:t>
            </a:r>
            <a:r>
              <a:rPr dirty="0"/>
              <a:t>IEEE/ACM</a:t>
            </a:r>
            <a:r>
              <a:rPr dirty="0" spc="35"/>
              <a:t> </a:t>
            </a:r>
            <a:r>
              <a:rPr dirty="0" spc="-10"/>
              <a:t>Transactions</a:t>
            </a:r>
            <a:r>
              <a:rPr dirty="0" spc="35"/>
              <a:t> </a:t>
            </a:r>
            <a:r>
              <a:rPr dirty="0"/>
              <a:t>on</a:t>
            </a:r>
            <a:r>
              <a:rPr dirty="0" spc="30"/>
              <a:t> </a:t>
            </a:r>
            <a:r>
              <a:rPr dirty="0"/>
              <a:t>Audio,</a:t>
            </a:r>
            <a:r>
              <a:rPr dirty="0" spc="35"/>
              <a:t> </a:t>
            </a:r>
            <a:r>
              <a:rPr dirty="0" spc="-20"/>
              <a:t>Speech,</a:t>
            </a:r>
            <a:r>
              <a:rPr dirty="0" spc="35"/>
              <a:t> </a:t>
            </a:r>
            <a:r>
              <a:rPr dirty="0" spc="-25"/>
              <a:t>and Language</a:t>
            </a:r>
            <a:r>
              <a:rPr dirty="0" spc="-35"/>
              <a:t> </a:t>
            </a:r>
            <a:r>
              <a:rPr dirty="0" spc="-10"/>
              <a:t>Processing,</a:t>
            </a:r>
            <a:r>
              <a:rPr dirty="0" spc="-30"/>
              <a:t> </a:t>
            </a:r>
            <a:r>
              <a:rPr dirty="0" spc="-10"/>
              <a:t>2020.</a:t>
            </a:r>
          </a:p>
          <a:p>
            <a:pPr marL="222250" marR="190500" indent="-189865">
              <a:lnSpc>
                <a:spcPct val="101499"/>
              </a:lnSpc>
              <a:spcBef>
                <a:spcPts val="355"/>
              </a:spcBef>
              <a:buAutoNum type="arabicPlain" startAt="3"/>
              <a:tabLst>
                <a:tab pos="222885" algn="l"/>
              </a:tabLst>
            </a:pPr>
            <a:r>
              <a:rPr dirty="0"/>
              <a:t>T.</a:t>
            </a:r>
            <a:r>
              <a:rPr dirty="0" spc="10"/>
              <a:t> </a:t>
            </a:r>
            <a:r>
              <a:rPr dirty="0" spc="-20"/>
              <a:t>Giannakopoulos,</a:t>
            </a:r>
            <a:r>
              <a:rPr dirty="0" spc="10"/>
              <a:t> </a:t>
            </a:r>
            <a:r>
              <a:rPr dirty="0" i="1">
                <a:latin typeface="Arial"/>
                <a:cs typeface="Arial"/>
              </a:rPr>
              <a:t>“Audio</a:t>
            </a:r>
            <a:r>
              <a:rPr dirty="0" spc="45" i="1">
                <a:latin typeface="Arial"/>
                <a:cs typeface="Arial"/>
              </a:rPr>
              <a:t> </a:t>
            </a:r>
            <a:r>
              <a:rPr dirty="0" spc="-25" i="1">
                <a:latin typeface="Arial"/>
                <a:cs typeface="Arial"/>
              </a:rPr>
              <a:t>Feature</a:t>
            </a:r>
            <a:r>
              <a:rPr dirty="0" spc="4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Extraction</a:t>
            </a:r>
            <a:r>
              <a:rPr dirty="0" spc="40" i="1">
                <a:latin typeface="Arial"/>
                <a:cs typeface="Arial"/>
              </a:rPr>
              <a:t> </a:t>
            </a:r>
            <a:r>
              <a:rPr dirty="0" spc="-20" i="1">
                <a:latin typeface="Arial"/>
                <a:cs typeface="Arial"/>
              </a:rPr>
              <a:t>using</a:t>
            </a:r>
            <a:r>
              <a:rPr dirty="0" spc="45" i="1">
                <a:latin typeface="Arial"/>
                <a:cs typeface="Arial"/>
              </a:rPr>
              <a:t> </a:t>
            </a:r>
            <a:r>
              <a:rPr dirty="0" spc="-30" i="1">
                <a:latin typeface="Arial"/>
                <a:cs typeface="Arial"/>
              </a:rPr>
              <a:t>MFCCs</a:t>
            </a:r>
            <a:r>
              <a:rPr dirty="0" spc="4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for</a:t>
            </a:r>
            <a:r>
              <a:rPr dirty="0" spc="45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Environmental </a:t>
            </a:r>
            <a:r>
              <a:rPr dirty="0" spc="-30" i="1">
                <a:latin typeface="Arial"/>
                <a:cs typeface="Arial"/>
              </a:rPr>
              <a:t>Sound</a:t>
            </a:r>
            <a:r>
              <a:rPr dirty="0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Classification”</a:t>
            </a:r>
            <a:r>
              <a:rPr dirty="0" spc="-10"/>
              <a:t>,</a:t>
            </a:r>
            <a:r>
              <a:rPr dirty="0" spc="-30"/>
              <a:t> </a:t>
            </a:r>
            <a:r>
              <a:rPr dirty="0" spc="-10"/>
              <a:t>Elsevier,</a:t>
            </a:r>
            <a:r>
              <a:rPr dirty="0" spc="-30"/>
              <a:t> </a:t>
            </a:r>
            <a:r>
              <a:rPr dirty="0" spc="-10"/>
              <a:t>2015.</a:t>
            </a:r>
          </a:p>
          <a:p>
            <a:pPr marL="222250" marR="73660" indent="-189865">
              <a:lnSpc>
                <a:spcPct val="101499"/>
              </a:lnSpc>
              <a:spcBef>
                <a:spcPts val="355"/>
              </a:spcBef>
              <a:buAutoNum type="arabicPlain" startAt="3"/>
              <a:tabLst>
                <a:tab pos="222885" algn="l"/>
              </a:tabLst>
            </a:pPr>
            <a:r>
              <a:rPr dirty="0"/>
              <a:t>S. Han, H. Mao, and W. J. Dally, </a:t>
            </a:r>
            <a:r>
              <a:rPr dirty="0" i="1">
                <a:latin typeface="Arial"/>
                <a:cs typeface="Arial"/>
              </a:rPr>
              <a:t>“Deep</a:t>
            </a:r>
            <a:r>
              <a:rPr dirty="0" spc="30" i="1">
                <a:latin typeface="Arial"/>
                <a:cs typeface="Arial"/>
              </a:rPr>
              <a:t> </a:t>
            </a:r>
            <a:r>
              <a:rPr dirty="0" spc="-40" i="1">
                <a:latin typeface="Arial"/>
                <a:cs typeface="Arial"/>
              </a:rPr>
              <a:t>Compression:</a:t>
            </a:r>
            <a:r>
              <a:rPr dirty="0" spc="125" i="1">
                <a:latin typeface="Arial"/>
                <a:cs typeface="Arial"/>
              </a:rPr>
              <a:t> </a:t>
            </a:r>
            <a:r>
              <a:rPr dirty="0" spc="-45" i="1">
                <a:latin typeface="Arial"/>
                <a:cs typeface="Arial"/>
              </a:rPr>
              <a:t>Compressing</a:t>
            </a:r>
            <a:r>
              <a:rPr dirty="0" spc="30" i="1">
                <a:latin typeface="Arial"/>
                <a:cs typeface="Arial"/>
              </a:rPr>
              <a:t> </a:t>
            </a:r>
            <a:r>
              <a:rPr dirty="0" spc="-30" i="1">
                <a:latin typeface="Arial"/>
                <a:cs typeface="Arial"/>
              </a:rPr>
              <a:t>Deep</a:t>
            </a:r>
            <a:r>
              <a:rPr dirty="0" spc="30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Neural </a:t>
            </a:r>
            <a:r>
              <a:rPr dirty="0" spc="-25" i="1">
                <a:latin typeface="Arial"/>
                <a:cs typeface="Arial"/>
              </a:rPr>
              <a:t>Networks</a:t>
            </a:r>
            <a:r>
              <a:rPr dirty="0" spc="1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with</a:t>
            </a:r>
            <a:r>
              <a:rPr dirty="0" spc="2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Pruning,</a:t>
            </a:r>
            <a:r>
              <a:rPr dirty="0" spc="15" i="1">
                <a:latin typeface="Arial"/>
                <a:cs typeface="Arial"/>
              </a:rPr>
              <a:t> </a:t>
            </a:r>
            <a:r>
              <a:rPr dirty="0" spc="-20" i="1">
                <a:latin typeface="Arial"/>
                <a:cs typeface="Arial"/>
              </a:rPr>
              <a:t>Trained</a:t>
            </a:r>
            <a:r>
              <a:rPr dirty="0" spc="20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Quantization</a:t>
            </a:r>
            <a:r>
              <a:rPr dirty="0" spc="20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and</a:t>
            </a:r>
            <a:r>
              <a:rPr dirty="0" spc="1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Huffman</a:t>
            </a:r>
            <a:r>
              <a:rPr dirty="0" spc="2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Coding”</a:t>
            </a:r>
            <a:r>
              <a:rPr dirty="0"/>
              <a:t>,</a:t>
            </a:r>
            <a:r>
              <a:rPr dirty="0" spc="-15"/>
              <a:t> </a:t>
            </a:r>
            <a:r>
              <a:rPr dirty="0"/>
              <a:t>ICLR,</a:t>
            </a:r>
            <a:r>
              <a:rPr dirty="0" spc="-10"/>
              <a:t> 2016.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4629" y="1112366"/>
            <a:ext cx="1438910" cy="4032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45">
                <a:latin typeface="Trebuchet MS"/>
                <a:cs typeface="Trebuchet MS"/>
              </a:rPr>
              <a:t>Thank</a:t>
            </a:r>
            <a:r>
              <a:rPr dirty="0" sz="2450" spc="-140">
                <a:latin typeface="Trebuchet MS"/>
                <a:cs typeface="Trebuchet MS"/>
              </a:rPr>
              <a:t> </a:t>
            </a:r>
            <a:r>
              <a:rPr dirty="0" sz="2450" spc="-155">
                <a:latin typeface="Trebuchet MS"/>
                <a:cs typeface="Trebuchet MS"/>
              </a:rPr>
              <a:t>you!</a:t>
            </a:r>
            <a:endParaRPr sz="24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070011" y="3367039"/>
            <a:ext cx="46799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RGUKT</a:t>
            </a:r>
            <a:r>
              <a:rPr dirty="0" sz="500" spc="7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Nuzvid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25</a:t>
            </a:r>
            <a:r>
              <a:rPr dirty="0" spc="30"/>
              <a:t> </a:t>
            </a:r>
            <a:r>
              <a:rPr dirty="0"/>
              <a:t>October</a:t>
            </a:r>
            <a:r>
              <a:rPr dirty="0" spc="30"/>
              <a:t> </a:t>
            </a:r>
            <a:r>
              <a:rPr dirty="0" spc="-20"/>
              <a:t>2025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25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 Under the guidance of Dr. SHAIK RIYAZ HUSSAIN SIRPrepared by:  P. Praveen Kumar - N210402 </dc:creator>
  <dc:title>Gunshot Detection System On Edge Devices </dc:title>
  <dcterms:created xsi:type="dcterms:W3CDTF">2025-10-25T07:53:29Z</dcterms:created>
  <dcterms:modified xsi:type="dcterms:W3CDTF">2025-10-25T07:53:29Z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2025-10-25T00:00:00Z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2025-10-25T00:00:00Z</vt:filetime>
  </property>
  <property fmtid="{D5CDD505-2E9C-101B-9397-08002B2CF9AE}" pid="5" name="PTEX.Fullbanner">
    <vt:lpwstr>This is MiKTeX-pdfTeX 4.21.0 (1.40.27)</vt:lpwstr>
  </property>
  <property fmtid="{D5CDD505-2E9C-101B-9397-08002B2CF9AE}" pid="6" name="Producer">
    <vt:lpwstr>MiKTeX pdfTeX-1.40.27</vt:lpwstr>
  </property>
</Properties>
</file>